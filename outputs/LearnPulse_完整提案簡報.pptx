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6eea956074007" /><Relationship Type="http://schemas.openxmlformats.org/officeDocument/2006/relationships/extended-properties" Target="/docProps/app.xml" Id="R30078b191e0a4b97" /><Relationship Type="http://schemas.openxmlformats.org/officeDocument/2006/relationships/officeDocument" Target="/ppt/presentation.xml" Id="R7deb06e0489b44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814edebb134f14"/>
  </p:sldMasterIdLst>
  <p:notesMasterIdLst>
    <p:notesMasterId xmlns:r="http://schemas.openxmlformats.org/officeDocument/2006/relationships" r:id="Rf8675d0b69354d79"/>
  </p:notesMasterIdLst>
  <p:sldIdLst>
    <p:sldId xmlns:r="http://schemas.openxmlformats.org/officeDocument/2006/relationships" id="256" r:id="R6cb9d30739794b9f"/>
    <p:sldId xmlns:r="http://schemas.openxmlformats.org/officeDocument/2006/relationships" id="257" r:id="Ra7404e9e74104c16"/>
    <p:sldId xmlns:r="http://schemas.openxmlformats.org/officeDocument/2006/relationships" id="258" r:id="Rec06279b12cb4fbf"/>
    <p:sldId xmlns:r="http://schemas.openxmlformats.org/officeDocument/2006/relationships" id="259" r:id="R68b4045d364946a8"/>
    <p:sldId xmlns:r="http://schemas.openxmlformats.org/officeDocument/2006/relationships" id="260" r:id="R172eb8f158344019"/>
    <p:sldId xmlns:r="http://schemas.openxmlformats.org/officeDocument/2006/relationships" id="261" r:id="R1b1ddd4bff0f4b9a"/>
    <p:sldId xmlns:r="http://schemas.openxmlformats.org/officeDocument/2006/relationships" id="262" r:id="R6e7b36bca8934bc5"/>
    <p:sldId xmlns:r="http://schemas.openxmlformats.org/officeDocument/2006/relationships" id="263" r:id="R458a3ac4fa2d4d02"/>
    <p:sldId xmlns:r="http://schemas.openxmlformats.org/officeDocument/2006/relationships" id="264" r:id="Rd4b2552831914cd9"/>
    <p:sldId xmlns:r="http://schemas.openxmlformats.org/officeDocument/2006/relationships" id="265" r:id="R89f2d6519bcb46df"/>
    <p:sldId xmlns:r="http://schemas.openxmlformats.org/officeDocument/2006/relationships" id="266" r:id="Rba78b1dbf3a2461f"/>
    <p:sldId xmlns:r="http://schemas.openxmlformats.org/officeDocument/2006/relationships" id="267" r:id="R5dc9880c91c34d4e"/>
    <p:sldId xmlns:r="http://schemas.openxmlformats.org/officeDocument/2006/relationships" id="268" r:id="Rf42df0da4b274441"/>
    <p:sldId xmlns:r="http://schemas.openxmlformats.org/officeDocument/2006/relationships" id="269" r:id="R0aa295de8a8e48cb"/>
    <p:sldId xmlns:r="http://schemas.openxmlformats.org/officeDocument/2006/relationships" id="270" r:id="R9f4a8e39fc2d4be3"/>
    <p:sldId xmlns:r="http://schemas.openxmlformats.org/officeDocument/2006/relationships" id="271" r:id="Rf66e113501fc4de2"/>
    <p:sldId xmlns:r="http://schemas.openxmlformats.org/officeDocument/2006/relationships" id="272" r:id="Ra411398e2c7949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f932a571e74267" /><Relationship Type="http://schemas.openxmlformats.org/officeDocument/2006/relationships/slideMaster" Target="/ppt/slideMasters/slideMaster1.xml" Id="R81814edebb134f14" /><Relationship Type="http://schemas.openxmlformats.org/officeDocument/2006/relationships/notesMaster" Target="/ppt/notesMasters/notesMaster1.xml" Id="Rf8675d0b69354d79" /><Relationship Type="http://schemas.openxmlformats.org/officeDocument/2006/relationships/presProps" Target="/ppt/presProps.xml" Id="R5f1f6ca6fd88416e" /><Relationship Type="http://schemas.openxmlformats.org/officeDocument/2006/relationships/tableStyles" Target="/ppt/tableStyles.xml" Id="Rda482a90f3b74752" /><Relationship Type="http://schemas.openxmlformats.org/officeDocument/2006/relationships/slide" Target="/ppt/slides/slide1.xml" Id="R6cb9d30739794b9f" /><Relationship Type="http://schemas.openxmlformats.org/officeDocument/2006/relationships/slide" Target="/ppt/slides/slide2.xml" Id="Ra7404e9e74104c16" /><Relationship Type="http://schemas.openxmlformats.org/officeDocument/2006/relationships/slide" Target="/ppt/slides/slide3.xml" Id="Rec06279b12cb4fbf" /><Relationship Type="http://schemas.openxmlformats.org/officeDocument/2006/relationships/slide" Target="/ppt/slides/slide4.xml" Id="R68b4045d364946a8" /><Relationship Type="http://schemas.openxmlformats.org/officeDocument/2006/relationships/slide" Target="/ppt/slides/slide5.xml" Id="R172eb8f158344019" /><Relationship Type="http://schemas.openxmlformats.org/officeDocument/2006/relationships/slide" Target="/ppt/slides/slide6.xml" Id="R1b1ddd4bff0f4b9a" /><Relationship Type="http://schemas.openxmlformats.org/officeDocument/2006/relationships/slide" Target="/ppt/slides/slide7.xml" Id="R6e7b36bca8934bc5" /><Relationship Type="http://schemas.openxmlformats.org/officeDocument/2006/relationships/slide" Target="/ppt/slides/slide8.xml" Id="R458a3ac4fa2d4d02" /><Relationship Type="http://schemas.openxmlformats.org/officeDocument/2006/relationships/slide" Target="/ppt/slides/slide9.xml" Id="Rd4b2552831914cd9" /><Relationship Type="http://schemas.openxmlformats.org/officeDocument/2006/relationships/slide" Target="/ppt/slides/slide10.xml" Id="R89f2d6519bcb46df" /><Relationship Type="http://schemas.openxmlformats.org/officeDocument/2006/relationships/slide" Target="/ppt/slides/slide11.xml" Id="Rba78b1dbf3a2461f" /><Relationship Type="http://schemas.openxmlformats.org/officeDocument/2006/relationships/slide" Target="/ppt/slides/slide12.xml" Id="R5dc9880c91c34d4e" /><Relationship Type="http://schemas.openxmlformats.org/officeDocument/2006/relationships/slide" Target="/ppt/slides/slide13.xml" Id="Rf42df0da4b274441" /><Relationship Type="http://schemas.openxmlformats.org/officeDocument/2006/relationships/slide" Target="/ppt/slides/slide14.xml" Id="R0aa295de8a8e48cb" /><Relationship Type="http://schemas.openxmlformats.org/officeDocument/2006/relationships/slide" Target="/ppt/slides/slide15.xml" Id="R9f4a8e39fc2d4be3" /><Relationship Type="http://schemas.openxmlformats.org/officeDocument/2006/relationships/slide" Target="/ppt/slides/slide16.xml" Id="Rf66e113501fc4de2" /><Relationship Type="http://schemas.openxmlformats.org/officeDocument/2006/relationships/slide" Target="/ppt/slides/slide17.xml" Id="Ra411398e2c7949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bba181fa5b42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a65c8f503b46b4" /><Relationship Type="http://schemas.openxmlformats.org/officeDocument/2006/relationships/notesMaster" Target="/ppt/notesMasters/notesMaster1.xml" Id="Rc153ac7139d549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ce38a7b8d745d1" /><Relationship Type="http://schemas.openxmlformats.org/officeDocument/2006/relationships/notesMaster" Target="/ppt/notesMasters/notesMaster1.xml" Id="R299bb23d90b046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cdc2c148544568" /><Relationship Type="http://schemas.openxmlformats.org/officeDocument/2006/relationships/notesMaster" Target="/ppt/notesMasters/notesMaster1.xml" Id="R20ecac0448d643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d1ff8da36f44ba" /><Relationship Type="http://schemas.openxmlformats.org/officeDocument/2006/relationships/notesMaster" Target="/ppt/notesMasters/notesMaster1.xml" Id="R3ed703a5360940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b16a41f4514abc" /><Relationship Type="http://schemas.openxmlformats.org/officeDocument/2006/relationships/notesMaster" Target="/ppt/notesMasters/notesMaster1.xml" Id="R1f0086907940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a008d655224e95" /><Relationship Type="http://schemas.openxmlformats.org/officeDocument/2006/relationships/notesMaster" Target="/ppt/notesMasters/notesMaster1.xml" Id="R1f9de469dbcb44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ced46ec6654f92" /><Relationship Type="http://schemas.openxmlformats.org/officeDocument/2006/relationships/notesMaster" Target="/ppt/notesMasters/notesMaster1.xml" Id="Ra63f8cb7a26c4b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46e92b95ea4057" /><Relationship Type="http://schemas.openxmlformats.org/officeDocument/2006/relationships/notesMaster" Target="/ppt/notesMasters/notesMaster1.xml" Id="Rf4807ea4befa4a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71e67f38c94972" /><Relationship Type="http://schemas.openxmlformats.org/officeDocument/2006/relationships/notesMaster" Target="/ppt/notesMasters/notesMaster1.xml" Id="Ra29fa9d429a24b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1510d8941647d4" /><Relationship Type="http://schemas.openxmlformats.org/officeDocument/2006/relationships/notesMaster" Target="/ppt/notesMasters/notesMaster1.xml" Id="R3045543e7da844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3a1bd06bab44ea" /><Relationship Type="http://schemas.openxmlformats.org/officeDocument/2006/relationships/notesMaster" Target="/ppt/notesMasters/notesMaster1.xml" Id="Re1f6b4aa989c47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35c13827384048" /><Relationship Type="http://schemas.openxmlformats.org/officeDocument/2006/relationships/notesMaster" Target="/ppt/notesMasters/notesMaster1.xml" Id="Rba7f11da21544a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c77817c8e940a6" /><Relationship Type="http://schemas.openxmlformats.org/officeDocument/2006/relationships/notesMaster" Target="/ppt/notesMasters/notesMaster1.xml" Id="R774fdd93e6594c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cc2b21c38d4d55" /><Relationship Type="http://schemas.openxmlformats.org/officeDocument/2006/relationships/notesMaster" Target="/ppt/notesMasters/notesMaster1.xml" Id="R8f4f6c93b9054e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13c43c6d134a80" /><Relationship Type="http://schemas.openxmlformats.org/officeDocument/2006/relationships/notesMaster" Target="/ppt/notesMasters/notesMaster1.xml" Id="R6ed7d8fd23ae40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44328bc90d4f38" /><Relationship Type="http://schemas.openxmlformats.org/officeDocument/2006/relationships/notesMaster" Target="/ppt/notesMasters/notesMaster1.xml" Id="Rb3c0c3cc03d44d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8274d52a834930" /><Relationship Type="http://schemas.openxmlformats.org/officeDocument/2006/relationships/notesMaster" Target="/ppt/notesMasters/notesMaster1.xml" Id="R5ec9765a9ffe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開場一句：學員卡住時不一定會問 AI，但他會倒帶。LearnPulse 把這個隱性舉手接起來。避免先講功能列表，先講這個洞察。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比較不是宣稱重播永遠等於困惑，而是把它當成低雜訊的觸發候選，再用投票與後續行為確認。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時讓評審看到使用者不是被困在一個 AI panel；每個階段都能往下一步走。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強調延後 7 秒：峰值那一秒是最重要的內容，立刻彈卡反而會製造下一次倒帶。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17×、66%、61% 完課率說成真實成效。說法是：我們用固定種子資料把產品假設做成可測的狀態機。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操作：先指熱力圖，再指出燈泡是在峰值後 7 秒。展開卡片後投錯誤選項 A，讓分布顯示共同誤解。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最有說服力的例子：4:57 建議把 4 個動作參數拆成分鏡，最後補一張可截圖總表。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串接點：front 點推薦影片進 mid；end 的去上課先記錄觀看，再導回 mid，回城市時能看到進度成長。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這張是商業邏輯轉場：不是只改善一個介面，而是把內容品質、學習體驗與召回資料連起來。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誠實說明：mid 的 AI 解說與診斷是預先寫好；end 的 AI 函式是 Mock，但函式簽名已按正式 API 方式設計。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架構重點不是服務堆疊，而是每個 replay 事件能被歸因到哪一張介入、是否恢復觀看、是否完成章節。AWS 來源：https://docs.aws.amazon.com/bedrock/latest/userguide/kb-how-it-works.html；https://docs.aws.amazon.com/eventbridge/latest/userguide/using-eventbridge-scheduler.html；https://docs.aws.amazon.com/end-user-messaging/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不要說模型能讀情緒。說它依行為訊號決定介入候選，再用教材內容生成特定形式的幫助。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評審若問提升多少：目前沒有真實資料，不承諾數字。先看卡點後恢復率與後續答題是否改善，再決定是否擴大。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商業價值要用可驗證語氣：不是宣稱已提升續購，而是提出可透過 A/B 驗證的價值鏈。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時程可依競賽資源縮短，但順序不要反：沒有 replay 秒數，就沒有可信熱點，也沒有可歸因的 AI。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錄影旁白不要逐一念 UI。每個操作只回答三件事：發生什麼、AI 為什麼現在出現、下一步改變什麼。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結尾不要說謝謝。回到開場：學員倒帶就是舉手；現在只差把這個事件做真。請評審支持四週 Pilot。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5b3bdf8bf45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c753c14668466b" /><Relationship Type="http://schemas.openxmlformats.org/officeDocument/2006/relationships/slideLayout" Target="/ppt/slideLayouts/slideLayout1.xml" Id="R3767a57f5bf246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67a57f5bf246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9ef181b044ae6" /><Relationship Type="http://schemas.openxmlformats.org/officeDocument/2006/relationships/notesSlide" Target="/ppt/notesSlides/notesSlide1.xml" Id="Ra4dfaacfade540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1b3bdc2e543f7" /><Relationship Type="http://schemas.openxmlformats.org/officeDocument/2006/relationships/notesSlide" Target="/ppt/notesSlides/notesSlide2.xml" Id="Rc41d926c273043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ebf765705433c" /><Relationship Type="http://schemas.openxmlformats.org/officeDocument/2006/relationships/notesSlide" Target="/ppt/notesSlides/notesSlide3.xml" Id="R732204b0c31f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185e917cc4823" /><Relationship Type="http://schemas.openxmlformats.org/officeDocument/2006/relationships/notesSlide" Target="/ppt/notesSlides/notesSlide4.xml" Id="Raf55635033f04d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e3bf9620b46fa" /><Relationship Type="http://schemas.openxmlformats.org/officeDocument/2006/relationships/notesSlide" Target="/ppt/notesSlides/notesSlide5.xml" Id="R6500aaf32b784e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4c888912e4b03" /><Relationship Type="http://schemas.openxmlformats.org/officeDocument/2006/relationships/image" Target="/ppt/media/image.jpeg" Id="R3dd3bc024f4f47b7" /><Relationship Type="http://schemas.openxmlformats.org/officeDocument/2006/relationships/notesSlide" Target="/ppt/notesSlides/notesSlide6.xml" Id="Raa5fd4788c4849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f57b8a01d499c" /><Relationship Type="http://schemas.openxmlformats.org/officeDocument/2006/relationships/image" Target="/ppt/media/image2.jpeg" Id="R88467ea386ab4c3e" /><Relationship Type="http://schemas.openxmlformats.org/officeDocument/2006/relationships/notesSlide" Target="/ppt/notesSlides/notesSlide7.xml" Id="Rbd7e31546ed44a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08715bfa54bd2" /><Relationship Type="http://schemas.openxmlformats.org/officeDocument/2006/relationships/image" Target="/ppt/media/image3.jpeg" Id="Rfa0575509c2d47e7" /><Relationship Type="http://schemas.openxmlformats.org/officeDocument/2006/relationships/image" Target="/ppt/media/image.png" Id="Rbf0d1f9996be4bc4" /><Relationship Type="http://schemas.openxmlformats.org/officeDocument/2006/relationships/notesSlide" Target="/ppt/notesSlides/notesSlide8.xml" Id="R25ca2945b26b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2dd0eb2ea4f37" /><Relationship Type="http://schemas.openxmlformats.org/officeDocument/2006/relationships/notesSlide" Target="/ppt/notesSlides/notesSlide9.xml" Id="Rab82b8ceb90a4c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3416565a14101" /><Relationship Type="http://schemas.openxmlformats.org/officeDocument/2006/relationships/notesSlide" Target="/ppt/notesSlides/notesSlide10.xml" Id="R839bff6420ba45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c0a6293c64d5e" /><Relationship Type="http://schemas.openxmlformats.org/officeDocument/2006/relationships/notesSlide" Target="/ppt/notesSlides/notesSlide11.xml" Id="R9069c1cfd06348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84bb278924927" /><Relationship Type="http://schemas.openxmlformats.org/officeDocument/2006/relationships/notesSlide" Target="/ppt/notesSlides/notesSlide12.xml" Id="R783ce2efacb347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c13022bbc4488" /><Relationship Type="http://schemas.openxmlformats.org/officeDocument/2006/relationships/notesSlide" Target="/ppt/notesSlides/notesSlide13.xml" Id="R3feaf5da2a3b43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7c520d32044b9" /><Relationship Type="http://schemas.openxmlformats.org/officeDocument/2006/relationships/notesSlide" Target="/ppt/notesSlides/notesSlide14.xml" Id="R2a6955d7cc7846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bd9ddac714d35" /><Relationship Type="http://schemas.openxmlformats.org/officeDocument/2006/relationships/notesSlide" Target="/ppt/notesSlides/notesSlide15.xml" Id="R327e707f29a84d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fefbc90cb4b8f" /><Relationship Type="http://schemas.openxmlformats.org/officeDocument/2006/relationships/notesSlide" Target="/ppt/notesSlides/notesSlide16.xml" Id="R325feb1f7ce440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1d05f2cbf4912" /><Relationship Type="http://schemas.openxmlformats.org/officeDocument/2006/relationships/notesSlide" Target="/ppt/notesSlides/notesSlide17.xml" Id="Rb8fdc72525e042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06C6A-735A-42B4-BD00-3AC60D99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39DF2-33E5-49F2-BA4F-A5AFD7B0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PRESSPLAY ACADEMY × AWS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BA4E5-BCDA-4936-8765-69C7F50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LearnPulse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56E6E-B929-4D79-9674-507C4D2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5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把倒帶，變成 AI</a:t>
            </a:r>
          </a:p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5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能接住的舉手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981DE-9774-4822-8960-09D1E2D8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用重播訊號找出卡點，串起學員介入、創作者改善與課後召回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371AB-FFB1-46C1-ADD7-94EC4F08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F14DA-3432-412D-A8AA-AF7B20E8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可操作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A5D40-706F-4178-9EA8-B1A6D0E3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1562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7F7A8-1869-4B6F-9831-FC0A2B0F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768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重播訊號閉環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0F7BE-BCA4-40AF-B2BD-21A3922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101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FFF3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EF654-CE27-4037-A29C-8AC2329C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768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6A0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9A6A00"/>
                </a:solidFill>
                <a:latin typeface="PingFang TC"/>
                <a:ea typeface="PingFang TC"/>
                <a:cs typeface="PingFang TC"/>
              </a:rPr>
              <a:t>Mock 誠信標示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3744F-0DBF-401C-AC6C-1176499E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1050"/>
            <a:ext cx="3429000" cy="5048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D00C7-6144-455E-BFFB-6C6F270E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049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REPLAY → RECOVERY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544050" y="1790700"/>
            <a:ext cx="0" cy="3028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6FDD6-FA43-4575-B8DB-D5A95B18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71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A9B47-B868-4BE8-AE51-F7654BBD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573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8DDD4-B067-404E-A733-9E603965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倒回去重看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32F83-27AF-4C7C-871F-9F1F9CB6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376E1-BC9E-42F9-B234-F29CA294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98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7D853-0BE1-4EAD-AE9C-459419A4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AI 延後 7 秒介入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92F36-CF25-4BAD-B35A-317BB87C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76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FAA00-D3CB-4B9D-B769-5A367CB5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623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F047B-90FE-435C-B321-303EAD58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528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解說＋投票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97F47-4449-4D03-B3D9-F163F161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29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1F9D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E840C-43EE-4B19-AF02-401D7054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148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18EF8-B6D0-4EE5-811A-9D1EA0D0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053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回到學習／城市成長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FD7F39-B16F-4EC0-9CB3-9FE6A2D7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Hackathon Proposal｜2026.07</a:t>
            </a:r>
          </a:p>
        </p:txBody>
      </p:sp>
    </p:spTree>
    <p:extLst>
      <p:ext uri="{BB962C8B-B14F-4D97-AF65-F5344CB8AC3E}">
        <p14:creationId xmlns:p14="http://schemas.microsoft.com/office/powerpoint/2010/main" val="18988398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2C1F1A-F907-46D2-8DE9-B4F990E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THE SIGNAL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7F39ED4-6C1B-475F-974F-372598E4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學員卡住時通常不會發問，但會倒帶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F7D6B-BC67-41C0-AAF1-BE08129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44C37-8512-49D3-A421-72D3A035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現有 AI 助教等待提問；真正的摩擦發生在提問之前。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AD482-B5B6-4B2B-B226-BDD30598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39115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B4C2B-C308-4A09-BD2C-50EFC997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暫停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9A5C2-CEF5-4F94-B6F2-6D309CB0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語意模糊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9E4A8-8E89-471F-ADF1-628C6D2C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接電話、倒水、分心、想筆記……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單靠暫停很難判斷需不需要幫助。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0BBE4-BE70-465E-A13B-80372DF5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57912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897D0-3144-45F0-8087-7D16C686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重播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11775-730A-46B5-BA59-BC1146B5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高意圖的卡關訊號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0FACE-C26B-4A04-A19D-CFF5A8EB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使用者主動回到剛剛的內容。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這一刻最接近「我沒聽懂，再說一次」。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16106-C127-405C-B37B-D8E4638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62550"/>
            <a:ext cx="7696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2E283-7908-4A5A-9C67-E6322BD8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81625"/>
            <a:ext cx="712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核心命題：用重播找出需要幫助的秒數，再給最短的下一步。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3A1E4-7692-42D3-9C21-8467B83B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專案洞察：重播訊號比暫停更能代表理解摩擦；目前數據為固定種子模擬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95657-F72A-4A24-8BE5-7144B9B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48185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9358A-F7A2-45CE-B92D-8F08707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END-TO-END EXPERIENCE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902AC20-2AE4-41F7-AD42-64E45929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不是單點 AI，而是一條完整的學習續航旅程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06B03-77A8-487C-89CC-BECE0841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95EFA-7FC0-450B-AD79-2C0C1BD9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課前找到適合的入口，課中接住卡點，課後把成果留在城市裡。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724150" y="34099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5543550" y="34099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8362950" y="34099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8A0A6-EE27-4A1E-A4B0-C768E76E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343150" cy="2724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51822-D61D-411B-A0B5-67B38FA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A541E-1586-4762-B541-A4EF4AF6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780BD-9CF0-4DA2-8EDA-7E736528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課前測驗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58A07-A1B6-481B-B5CE-94833E69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辨識學習節奏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推薦合適內容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9879D-DAEA-4FF6-BA9F-60A467C1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66950"/>
            <a:ext cx="2343150" cy="2724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C7379-3107-452B-941C-E9778470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35EE6-3364-42CC-BF73-0312454E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A5840-1500-4D27-8EA1-F190B24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影片學習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EB759-7F7D-462C-88BE-A0EE7BFB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重播熱力圖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AI 助教＋投票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B747C-1F08-4EBA-B552-CDCE3856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343150" cy="2724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7C95B-A3CA-425C-8748-0EA4C726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AB0A4-FEEC-4A1A-8A32-60534C8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DD014-E40F-4053-AE3B-A550B222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創作者洞察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02636-B311-40DB-AC2B-C422FD95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共同誤解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逐點改善建議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CA7EE-CFE2-4A98-AFA0-0DDB5099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343150" cy="2724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E6B5A-6EA1-4C07-96F6-3668A2D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1F9D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16EE1-65D7-4720-8922-0762D586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7938AB-7107-4BCB-B653-4BC0F62A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學習城市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361716-E417-4816-B3DA-4FA894C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XP／複習／召回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正向回歸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C52B0-1EB4-4634-9EBE-9BB10130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三端共用主題狀態，跨站以 URL 參數帶入來源與推薦；學習進度目前以 localStorage 保存。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D83F93-3925-435A-8757-D2EE9D8B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LearnPulse｜PressPlay Academy × AWS Hackathon｜2026.07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A5F8E7-6F17-4115-8321-AABAEB53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66052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A7F223-B335-4F6E-9065-ED19EE0A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THE CLOSED LOOP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55CA539-5012-4229-82FD-D7BF628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同一份重播訊號，驅動四個連續決策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1F04E-FE91-4C4C-A69A-F4960667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E1BDA-D8BB-415B-9EF1-9FD38FA8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訊號不是報表終點，而是下一個產品行為的起點。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581650" y="3143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5581650" y="51054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3295650" y="37909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9086850" y="37909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3BFBC-97A5-4264-9DC1-72B410F4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2006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3FE37-85F7-496B-A7D4-97140C09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10C6E-9EF2-4C22-9ABB-70F40FA3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C4C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D94C4C"/>
                </a:solidFill>
                <a:latin typeface="PingFang TC"/>
                <a:ea typeface="PingFang TC"/>
                <a:cs typeface="PingFang TC"/>
              </a:rPr>
              <a:t>1｜感知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82600-2AAD-4BD8-A7DB-AFAFD779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每 5 秒聚合 replay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找出高於門檻的峰值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CA4A6-2417-42CD-B180-A9820FF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2006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F41AB-4893-4BA0-A9E5-A1AC11C9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9C762-129F-4132-9B58-0C5DED23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2｜解讀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8764A-B635-4F1E-95DD-793F0B2E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結合字幕、章節、投票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判斷卡在哪一種認知負荷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88157-FBC0-41AD-AB1A-5C61B2FF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52006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9B517-D97F-4B1D-8629-B71C4B80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7D12C-AF4E-404F-9CF3-7312F94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3｜介入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6F1C7-211C-4987-A4E4-5BE6E1AF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峰值後延 7 秒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先 mini，再由使用者展開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40927-122E-4513-8B58-0B1A7E1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52006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5C286-8AA0-4DFD-A5CD-B4C0B50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1F9D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73E19-B79A-4169-A96A-6DE8F3C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434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4｜回饋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3CFE3-08A0-46FD-9019-7BA8A485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筆記、精華、推播、城市</a:t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結果回寫下一輪優化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1245EE-BBEB-4963-887D-D0C9594F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LearnPulse｜PressPlay Academy × AWS Hackathon｜2026.07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1FDB7-4E9A-46CD-AC2D-325FB8A8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049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34842-AB05-4061-B234-B860DBB1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DEMO EVIDENCE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8C1C14F-AB37-42D0-BB0E-8ED2EF4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Prototype 已把假設做成可操作、可重現的行為系統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CEB2F-80BC-4BF7-9A87-8CB5649C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6DCD3-B85A-4F4A-B709-620033B8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所有群體行為數字皆為固定種子 Mock；影片、逐字稿、章節與剪輯邊界為真實素材。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4F47A-E694-4193-86ED-1077C897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5623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BD95F-9EB1-4E9A-A5B6-B4D58143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914C3-952C-4B76-AB35-C8415E5E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17×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76FE2-B88D-4A52-B39B-D70BB5CF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峰值／基線訊噪比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0D05D-8BDA-4FF2-B994-F6F45148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最高 323 人；基線中位數 19 人。這是 Demo 資料設計，用來驗證互動與決策流程。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6FC7C-CC1D-4335-80C8-227BF1A0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5623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F5147-7AF1-49B6-ADFA-957910EE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C772F-1427-4CD8-8D29-5A120505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7 →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6C5F4-3553-4B69-90B1-A6F40B8E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熱點／實際介入點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1B2EB-25FE-4060-8BA2-612540C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7 個重播熱點中，5 個達介入門檻；低於門檻的點只進後台，不打擾學員。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ED511-66D2-4A72-BE74-B09E9070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5623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1AC6D-1CDC-437A-9784-255DE45C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1F9D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288E6-4538-46EC-86F4-7811FCF5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13 / 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FD909-ACAC-4ABE-B236-36373866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觸發狀態機測試通過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69613-15A7-4856-BFC9-A5BC730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涵蓋延後觸發、倒帶重置、關閉、展開暫停、燈泡對齊等互動。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97C2F-67B3-4DF8-8D0E-0FD85AEF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95950"/>
            <a:ext cx="647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FFF3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898DC-B675-413A-9D3F-26B2A2DE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6262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C620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8C6200"/>
                </a:solidFill>
                <a:latin typeface="PingFang TC"/>
                <a:ea typeface="PingFang TC"/>
                <a:cs typeface="PingFang TC"/>
              </a:rPr>
              <a:t>Mock Data｜486 人、114 個 5 秒區間、最高峰 66%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142AE-2096-49BF-A1AB-15B115CA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驗證：npm run typecheck 通過；播放器 ?selftest=1 顯示 13 項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18790-63E7-4136-803F-62B4E66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51445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FA37AD-E536-46FD-99C9-28B3B47C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LEARNER EXPERIENCE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3BAE263-7ACD-46FF-94F4-BC3F63A5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學員端：AI 在卡點後出現，解說與投票留在影片裡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1F279-0A80-4052-9C52-A7044DA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32F14-AE66-45F4-81C4-06D81D2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最高峰 04:57：323 人重播；卡片先證明「你不孤單」，再提供可操作解法。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3bc024f4f47b7"/>
          <a:srcRect xmlns:a="http://schemas.openxmlformats.org/drawingml/2006/main" l="0" t="5007" r="0" b="5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76450"/>
            <a:ext cx="7715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5834A-6DE4-4C99-A97E-F73C702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3390900" cy="39052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58A85-5F88-4507-8562-BB643ACE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互動設計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A00D1-E98F-4B8A-A4ED-9F2E2E63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+7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1444E-6F77-4DF6-8009-35FBBBD9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765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等關鍵句講完再介入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BE9C5-1929-4405-B5FD-DD632633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兩段式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C088B-C28F-4587-8D23-57709141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mini → 使用者展開 full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3164A-C8D1-4931-9115-5C2F34A0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投票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16E92-6211-4A42-A5B6-98863506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481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把「這裡難」變成「錯在哪」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64D17-1FF5-45D9-90FC-F9808CBF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↺10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1754D-9417-4E1B-9A61-8678EF42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339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個人倒帶立即回寫熱力圖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5A1D1-758D-4921-B53A-2AF07B75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畫面來源：本專案 prototype/mid/?open=coach 實機截圖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1570C-07B1-4A60-8196-2EBDE16A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75767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5107EC-57C4-4B96-BF5A-6BCD3775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CREATOR INTELLIGENCE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5B5335F-6A1E-44DD-86D1-A3102487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創作者端：從『哪裡難』走到『該怎麼改』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0CA3A-25D2-4F0D-9F9D-3C4AD77E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5C7FB-54FC-478E-922B-3A409157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重播找出難點，投票定位誤解；兩者交叉，才能分辨「難但講清楚」與「真的要重做」。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67ea386ab4c3e"/>
          <a:srcRect xmlns:a="http://schemas.openxmlformats.org/drawingml/2006/main" l="0" t="2047" r="0" b="2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76450"/>
            <a:ext cx="72390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0E804-F79F-4D05-AA8A-63947C19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76450"/>
            <a:ext cx="3848100" cy="39052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0391E-0325-4274-B338-EB393829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一份訊號，三層輸出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2FFB1-1A10-4D97-9C0B-A0A7F11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01  診斷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5FF0D-6ADA-4C0B-AC8F-0DA72239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哪一秒、哪種負荷、多少人受影響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C6E95-6C61-44D2-BFAA-188D08E7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02  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8A128-2972-4324-9ACC-951E1CBF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補字卡、拆分鏡、加手部特寫，並標成本／影響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89F59-4873-431E-896D-1A4E6DC7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48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03  先補洞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12BD8-CA40-4EA6-ABD8-F4A9F351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721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AI 先剪精華，創作者再決定是否重拍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ED2FA-2B76-499A-A2E2-F873E5EA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畫面來源：本專案 prototype/mid/creator.html 實機截圖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AE4D4-B3A2-4FC0-A646-CDC05534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55176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394073-BD3D-4F74-9EDA-5C6B7A9F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BEFORE &amp; AFTER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9350D50-9B29-466D-9175-35A16BBA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課前個人化入口，課後用正向回歸留住學習成果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0A9D-B7AE-423E-90F7-2F5D0251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3640E-F05E-4CBC-A388-0BEFBEA7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LearnPulse 不用連續簽到懲罰使用者；回來本身就是值得獎勵的行為。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8C1F7-73F2-4D88-B4EF-9F23297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課前｜學習人格＋推薦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ACFA6-0B09-47C5-B84D-93990DC5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課後｜學習城市＋XP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575509c2d47e7"/>
          <a:srcRect xmlns:a="http://schemas.openxmlformats.org/drawingml/2006/main" l="4967" t="0" r="49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419350"/>
            <a:ext cx="5276850" cy="3295650"/>
          </a:xfrm>
          <a:prstGeom xmlns:a="http://schemas.openxmlformats.org/drawingml/2006/main" prst="roundRect">
            <a:avLst>
              <a:gd name="adj" fmla="val 3468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d1f9996be4bc4"/>
          <a:srcRect xmlns:a="http://schemas.openxmlformats.org/drawingml/2006/main" l="0" t="8363" r="0" b="8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419350"/>
            <a:ext cx="5276850" cy="3295650"/>
          </a:xfrm>
          <a:prstGeom xmlns:a="http://schemas.openxmlformats.org/drawingml/2006/main" prst="roundRect">
            <a:avLst>
              <a:gd name="adj" fmla="val 346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A9CD7-20DD-4186-9259-3284E44D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483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1FCE3-74A1-465A-8BA1-77CB8836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1502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推薦內容帶入 from=quiz / rec / topic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B8E91-A064-4340-AF7C-BF5158FA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848350"/>
            <a:ext cx="4038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solidFill>
              <a:srgbClr val="EAF8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6BFC7-6AE7-4916-8689-68CE7AF6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150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不扣分、不讓城市衰敗；回歸 +20 XP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096C2-9B1F-416F-95D9-5D5F35FE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素材來源：專案課程封面與 Learning City 地圖資產；兩端皆已有可操作頁面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615E5-0FC3-4E70-90B5-A3936CDA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91473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766850-ABF9-4130-948D-8010279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ONE SIGNAL, THREE OUTCOMES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A160865-1E9C-4CA6-8C32-6DB8C2D7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同一份訊號，同時創造學員、創作者與平台價值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429B2-95F2-476B-8508-2355AC21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BE0CD-48C4-408C-BE06-559BCCC9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重播不是單純分析欄位；它是三個角色共用的決策介面。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31E9D-9D48-4045-BDCE-0D7A2FBE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35623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48879-27EE-4C52-9E38-D66F7F00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35623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FC8D9-0832-492D-82DF-66E0A8AC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學員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F400D-1176-48EF-A21A-D4B09604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我卡在哪？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CEA89-58E2-4F52-9002-EF2270EE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即時解說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同儕投票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精華與筆記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760D0-B087-4961-BC4E-7E654A7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5623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69D5A-5596-475F-AEE8-2155CA2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5623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9D802-B7AE-4E0D-8659-15A9BD3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創作者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999DD-3FA6-41E4-9EAF-838C0EB4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我哪裡沒講清楚？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2D80F-0F56-47D2-87A6-1A8A48A0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共同誤解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逐點診斷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改善成本／影響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57BC5-3B41-4E1D-94A3-11236BA5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5623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95BA0-2506-4F41-B2A2-4F53AEB7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5623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1F9D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A40E3-9763-4F07-8909-901B1F28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01AC6-7322-44DE-B947-9D8BCEAC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怎麼讓學習繼續？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50BFD-EEF0-449D-89B2-5E573EC9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召回時機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下一步任務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留存與續購衡量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A9E28-1000-478B-B194-8BD2E60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LearnPulse｜PressPlay Academy × AWS Hackathon｜2026.07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05DE1-F2C6-490C-9D6D-C770CB37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82101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54A9F-3E25-47C3-856E-035D4EFA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CURRENT TECHNICAL ARCHITECTURE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856392F-CAD6-4455-B6E9-EEFF19CA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現在的 Prototype 已分層清楚，能快速換成真實服務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98AC0-8824-4EC4-AFA1-925F9241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F91F7-7F26-488B-A8BC-C0CBD262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三個可獨立部署的前端，共用明確路由與狀態契約；AI 層已保留 async API 介面。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724150" y="29908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5581650" y="29908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8439150" y="29908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639EA-58A6-4571-9742-2F1D02A0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324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BA3F5-F2D6-42C3-A8D8-83CDDEDA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CBF4"/>
                </a:solidFill>
                <a:latin typeface="PingFang TC"/>
                <a:ea typeface="PingFang TC"/>
                <a:cs typeface="PingFang TC"/>
              </a:rPr>
              <a:t>front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A3726-8E5D-42DD-9892-8331004A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單檔 HTML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人格測驗＋推薦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11FED-CC0A-4F8F-A27B-FAB2AF4A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1981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BFA97-C486-416B-B038-CC80A3AE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mid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355C0-FEC1-40DF-A757-D6545542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37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Vanilla JS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播放器＋熱點狀態機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B0BC0-5DCB-4A7E-92DF-69726FB7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1981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29DF1-DFF4-444D-AB18-612E8FE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94B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F2B94B"/>
                </a:solidFill>
                <a:latin typeface="PingFang TC"/>
                <a:ea typeface="PingFang TC"/>
                <a:cs typeface="PingFang TC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43BF3-9194-48EE-9314-EDF9262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course.json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SRT → 熱力圖／卡片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CA1B8-9511-4760-ACF0-2644D33A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1797A-1909-4258-AF52-613404EF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E7916-E906-47DE-B251-480B3565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Next.js 14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城市＋複習＋任務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054A1-E0AA-40BD-84B7-E2626A58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B40C1-BE06-48CA-9EB0-86EEC8BA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共用契約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CCC14-B9E1-4DEA-BB54-A2AAFBA1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720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主題：ppa-theme｜跨站：?theme / ?from / ?rec / ?topic｜狀態：learning-city-state-v1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B5407-64A5-4692-9DF4-AFFD7125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目前儲存與 AI：localStorage + 固定種子 Mock／本地檢索；正式版只需把事件、儲存與 AI adapter 換成 API。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F7F58-3797-4875-9725-83620C40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實作：front/mid 靜態伺服器支援 HTTP Range；end 使用 React Context + useReducer + localStorage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594E0-B295-4A11-B680-0F50025C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17697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BEF67-43CD-4D0F-A631-41D2ADD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TARGET AWS ARCHITECTURE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EF794D8-61FD-4ECE-8592-5DDCC2AA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AWS 上線架構：事件、內容與 AI 都能追蹤歸因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1FF64-3720-43CA-8891-047A3FD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3579E-50BE-4635-BD9F-D7B19B4B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先補最關鍵的 video_replay 埋點，再把每一次介入與結果做可追溯歸因。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2095500" y="2686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4210050" y="2686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6324600" y="2686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8439150" y="2686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7372350" y="34671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9486900" y="34671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5257800" y="34671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4210050" y="48577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6324600" y="48577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8439150" y="48577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92B2F-6578-47FA-A3FE-68649D0D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6954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18BFD-B374-41B0-90A0-8AF1669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DCBF4"/>
                </a:solidFill>
                <a:latin typeface="PingFang TC"/>
                <a:ea typeface="PingFang TC"/>
                <a:cs typeface="PingFang TC"/>
              </a:rPr>
              <a:t>Web /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999AD-BA6D-4679-BFA4-014FEB9A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CloudFront + S3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Next.js 靜態輸出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F1D2B-D1CE-4152-95CA-2A375C14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5500"/>
            <a:ext cx="1600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6B068-EDB1-413C-BFAE-CB7DCFFF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72DC0-C248-46C9-9B63-162EBBC0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API Gateway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Lambda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4997F-52F6-467D-A224-795F6C7D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1600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6D584-62B9-4355-994E-069DFF7E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669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D3799-1A32-403E-B976-1F74AE8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EventBridge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replay / vote / 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19F4E-E813-4BE0-BECA-09778FC0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600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13F60-D39A-4C1C-A34A-B12EBD4F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94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B94B"/>
                </a:solidFill>
                <a:latin typeface="PingFang TC"/>
                <a:ea typeface="PingFang TC"/>
                <a:cs typeface="PingFang TC"/>
              </a:rPr>
              <a:t>儲存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79767-6B1E-4D0C-8E24-D5F22AF3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DynamoDB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S3 Data Lake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C74BC-6A85-40D3-97C0-8DF3722C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286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F392E4-552B-4FCF-AA83-342B7F41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69401D-6A8A-4718-8715-46D7BA42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Glue / Athena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Creator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7B288-E5E8-46CE-9421-9C39987D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1600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5FFEA6-3FD1-4E6E-9D97-2CB12CA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94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B94B"/>
                </a:solidFill>
                <a:latin typeface="PingFang TC"/>
                <a:ea typeface="PingFang TC"/>
                <a:cs typeface="PingFang TC"/>
              </a:rPr>
              <a:t>內容庫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5FFD71-0F66-4F6D-8CD3-EE90134E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6250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字幕／章節／教材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S3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C57AFC-521E-432E-8C48-EA85023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1600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094E62-D52B-4A36-A09C-DC59EB4E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434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RAG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BB1F4-3EC3-4E2D-AC05-A3E7624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6250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Bedrock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Knowledge Bases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C8C063-EC77-42B7-92A8-B534308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71950"/>
            <a:ext cx="16002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1C53F4-C9EC-4F1D-B1A4-7531B1E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生成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A24677-AD11-4FE0-8DB9-852D23E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62500"/>
            <a:ext cx="125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解說／測驗／摘要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含來源引用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50CD5F-BB67-4359-844E-BB950176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2286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F8ECC9-990B-4E69-B29D-01FEE6F9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召回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4EA1CF-80C7-460C-B9E0-172C50D1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EventBridge Scheduler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End User Messaging Push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56A9BF-58AF-4B8C-9721-9D42F7F0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身份與權限：Cognito／IAM｜監控：CloudWatch｜PII：假名化 user_id、最小化事件欄位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A639A4-4474-4355-B5ED-4E3C5C28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AWS 服務依官方文件：Bedrock Knowledge Bases、EventBridge Scheduler、AWS End User Messaging Push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652A14-7428-4670-9D9A-8AA4917C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14707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F437C2-DEE7-4124-94D5-46D10177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AI &amp; TRUST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CC3D27-3EF0-49E4-BA1A-35DBE7F7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AI 要能解釋、能引用，也要知道何時不要打擾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20F8-0C01-4176-8E9B-1E2EE8E5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B7046-437C-4A76-A3E6-C1E1B8AE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模型負責生成，規則與資料契約負責時機、範圍與可追溯性。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F501D-EE4F-43A5-8A8A-2E8D5D68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3911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1D84E-D005-4B5E-BE34-E9752868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生成鏈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DB5C2-7632-44B8-BAF3-1A276454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6291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  取回當前秒數的字幕、章節與關聯名詞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2  Bedrock Knowledge Bases 提供課程上下文與來源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3  依介入類型生成解說、測驗、摘要或創作者建議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4  回傳 source_id、confidence 與 feedback 欄位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A87C6-E0FB-411E-86DA-B125FAA2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3600"/>
            <a:ext cx="57912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A858A-B3D5-43D5-8635-ADFF844C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信任邊界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D4E11-9E11-46EC-8E70-43847DDE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4953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•  介入門檻可解釋，低於門檻就不打擾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•  學員可關閉、略過、延後；回饋不等於心理診斷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•  創作者改版建議保留 Human-in-the-loop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•  假名化事件、保存期限與用途同意需明確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62291-7501-4295-9969-BAAA0E3D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67400"/>
            <a:ext cx="704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FFF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922F3-5C45-4CEC-834C-F89DC1E4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34075"/>
            <a:ext cx="681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C620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8C6200"/>
                </a:solidFill>
                <a:latin typeface="PingFang TC"/>
                <a:ea typeface="PingFang TC"/>
                <a:cs typeface="PingFang TC"/>
              </a:rPr>
              <a:t>Prototype：預寫內容＋本地檢索｜正式版：RAG＋評測集＋人工覆核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90139-74E7-4557-8093-BB7B174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Bedrock Knowledge Bases 可對私有資料做 RAG，並回傳可追溯來源；本專案尚未正式串接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85909-C148-4D06-A2EB-973C66C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51008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47143-E712-4828-9BA5-D0490004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MEASUREMENT DESIGN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1A948E45-2FD9-4603-8864-0B500311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成效不靠想像：每一層都有可驗證的對照指標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6CFAB-EF1E-4499-BD8B-BECAFED2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5FDF9-6C3C-4F7C-A80C-ABDCF1E8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先做埋點與基準值，再進 A/B；提案不預填不存在的提升幅度。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30236-318D-40E7-835F-7837F8AC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5623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5FA48-566F-4394-9177-51F4A52E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65CE0-680A-4A2F-91D3-E443C3AC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5D3E1-D44C-4F93-A1D9-4F3239F7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卡點後恢復率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AB6D1-066A-43A6-8C2D-84A91967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介入後 60 秒內持續觀看／完成章節；搭配測驗答對率與重播下降率。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8CE5E-2F3E-40DB-AD80-E15CF4A2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35623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92E80-84FC-4212-8FFC-058DEB3A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0321E-5F53-4F59-BEBD-14B13375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81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互動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11DD1-F2BE-4E0B-A974-B9C1C074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有幫助與採用率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E3DA8-9371-4FBE-8C7B-A4EBFF5A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展開率、投票率、AI 回答有幫助比例、精華觀看完成率。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F005D-5ABE-4E47-9D10-9EA235B1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35623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BFBD2-ED5F-4D24-A5B5-AC87BAB5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9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73"/>
          </a:solidFill>
          <a:ln xmlns:a="http://schemas.openxmlformats.org/drawingml/2006/main" w="0">
            <a:solidFill>
              <a:srgbClr val="1F9D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83608-395D-4EB6-9DF4-33FF90A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商業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652A1-521D-4AF0-A9FD-310285F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回站與續學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7C608-3689-4569-A878-226E1181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召回 deep link 回站率、7 日留存、完課後續購；必須做分群歸因。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074AA-B465-40FE-B2AF-5482C2A1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9287D-5F1A-4E5B-BF40-9384BAFA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A/B：同一課程熱點隨機分組｜Control 無介入｜Treatment 延後介入｜觀察 4 週並分新／舊學員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890D3-00DD-4BF6-AEBE-CC52FF32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最先補的事件：video_replay{user_id, course_id, lesson_id, second, from_second, session_id}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B1F94-8219-473D-A95C-E130CEDD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22808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26D40-F389-47EA-8D41-623A16B6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BUSINESS VALUE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AF14C88E-8B6C-49E0-BF9B-548AFF56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LearnPulse 把內容品質改善，直接連到留存與轉換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63510-B085-4DF8-8B72-E483D53A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23A5B-4598-4934-9903-F9F2BA6A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一個閉環同時降低學員卡關成本、創作者改課成本與平台召回成本。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CA137-C057-49B4-8DE8-88016CD5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2006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432A1-FFDC-41EB-874A-D8CEB551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學員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99082-D31B-42EB-BD1F-D2CFC05B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241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更快解卡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27E98-E02A-45A8-9487-21C68703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在原影片完成理解，不用離開搜尋；看到同儕分布，降低挫折與孤獨感。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B4841-0D81-4BA2-B985-42318833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2006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4DEA5-1338-4296-883D-70B06DCA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創作者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4319A-2388-467C-8D54-9DE1F006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知道先改哪裡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1C2FC-C468-4509-9114-3BB247C2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用受影響人數、誤解與成本排序內容修改；AI 先產出精華與補充教材。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7CBB7-9175-4F0F-89FE-BEB5A23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2006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28E8E-03F5-4F62-B2FF-256FAAE1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9D7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F9D73"/>
                </a:solidFill>
                <a:latin typeface="PingFang TC"/>
                <a:ea typeface="PingFang TC"/>
                <a:cs typeface="PingFang TC"/>
              </a:rPr>
              <a:t>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AA6BB-2040-451F-A341-0797659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862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把召回變得有理由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31C80-6954-4ED3-AED9-60736531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不是泛用提醒，而是帶回最後卡點的 30 秒精華與下一步任務。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09697-7D7A-4443-980C-DBE59605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2006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1C5E2-C113-4894-B8E5-D7A51B39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94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2B94B"/>
                </a:solidFill>
                <a:latin typeface="PingFang TC"/>
                <a:ea typeface="PingFang TC"/>
                <a:cs typeface="PingFang TC"/>
              </a:rPr>
              <a:t>商業化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20D51-3F8B-4285-9CE2-FACE7245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862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從功能到內容 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B9092-98F5-4900-96E9-FF286FC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可作為講師分析增值方案、AI 學習方案，並用續購／訂閱 A/B 驗證。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545AB-7858-443B-9811-FE7988CE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LearnPulse｜PressPlay Academy × AWS Hackathon｜2026.07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473F8-6537-4B68-9362-78CEDDAE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61930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F3EE0-4509-4CE4-B1FE-4B071C61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DELIVERY ROADMAP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C2E819B2-BD49-4593-8AC5-5BB20B36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八週先把關鍵閉環做真，再逐步擴大 AI 與召回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AB3B3-AE65-4898-A1A3-5CDC750A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73484-2223-4CBD-8BB7-A45A0B92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先埋點、再分析、再生成；避免在沒有真實資料前過度建模。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781050" y="53340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E7B9C-BDAB-49A3-95DB-83967BB5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476500" cy="2781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E953C-256C-4273-AA84-F5529CCC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W1–2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EF41A-9B3C-4035-84DF-C9249B35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事件與資料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6ABC8-B3BA-47BF-A676-564A78DE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video_replay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投票／介入／恢復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資料字典＋隱私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1EDC0-AFBB-4520-B38A-E3D168C3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CCA41-3987-4717-9068-B8F30951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476500" cy="2781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A7A9B-03CE-4249-8444-1558B142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W3–4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75E66-61E2-43E1-B8F5-92AF64DC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真實熱點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DED2B-A1DB-46D1-A7F4-DA0B9346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4330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基線儀表板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門檻校準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Creator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E8388-B8CD-45F9-8949-660A29BE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26B8E-B4E0-49A2-A464-DA8D3582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476500" cy="2781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B1137-D736-4816-80C4-B63122E4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W5–6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F032D-31BE-488D-B82F-8F257E36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Bedrock RAG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956B1-803C-4BC0-9F09-B235893C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課程知識庫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來源引用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離線評測集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27B6D-2A55-41A4-B701-4E046805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D0535-D7BD-4421-8426-8174C3A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476500" cy="2781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90B59-2740-4881-9449-6F81AA9E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W7–8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3A3E1-463B-4B74-AECF-5F1A7BB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A/B 與召回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07E77-7C2F-4E8A-A120-285F04EA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2019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延後介入實驗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EventBridge Scheduler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回站歸因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9AB90-A4B7-4363-BDA8-D944BE69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08CA1-3F31-440D-B880-95F20713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Gate：真實事件完整率 ≥ 95% → RAG 回答通過人工評測 → 再啟動召回與商業指標實驗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ACC2C-94C7-4302-B5D5-51350DE8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LearnPulse｜PressPlay Academy × AWS Hackathon｜2026.07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658169-3BF4-452F-B5C9-C880204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59640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E545BD-35E9-4FD5-9251-8C70E910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RECORDING STORYBOARD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AA2ECD8F-F9F1-4236-9502-38A90847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Demo 影片用 3 分鐘講完一個『卡住 → 被接住』故事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DDEA2-78C5-4BD7-9A17-FF2EA7DE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1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EE03F-81CA-4C1C-B2D6-4769BEE6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畫面只沿著一位學員走；創作者與架構放在後半，避免一開始資訊過載。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BF8D3-A175-45D1-A9D7-F8562CE4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695450" cy="2952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DB5A2-3A53-4A88-9052-A9A26A6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0:00–0:20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A1380-9550-4624-8DAE-35344F6C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洞察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05B1E-D020-4A8A-8F87-5F180128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學員不問 AI，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但會倒帶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40B00-B6F5-4C3F-8765-3F2FA24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9ED25-DD67-40F3-9399-9B8E23D5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47900"/>
            <a:ext cx="1695450" cy="2952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CEBE5-3312-40B5-B0C8-611ADA7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0:20–0:45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ADC29-061D-4B6A-8B5C-7F18F941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956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課前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962EA-34A6-4C51-A64D-33F7884A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2425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測驗結果 →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點推薦影片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8CAD7-652E-452A-9C66-5A1788DC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291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532C8-7E99-495F-B5B4-1BDBE770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47900"/>
            <a:ext cx="1695450" cy="2952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436EA-4004-47A1-B57F-6EF091F0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0:45–1:35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E5DA3-5700-4E1A-A643-60B9D913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課中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6B8F0-EC40-44A5-B000-2800DD38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熱力圖 → 卡片 →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投票 → ↺10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8A956-EE45-4FD6-9727-CCF7AB55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357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7357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BB9A8-95BF-4B01-84A9-F1ECA837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47900"/>
            <a:ext cx="1695450" cy="2952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BEF97-8215-4A68-8388-2ADC972F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1:35–2:05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061F1-D4C2-4107-962C-9A9027CD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雙邊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D1057-A7E2-4A52-A20C-43540F85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2425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筆記／Reels →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創作者後台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C183C-C57A-4D63-B6B4-BEC52DCE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BB530-43C7-4EA0-8EB0-77CCCD7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1695450" cy="2952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B234A-DB05-408A-B6E3-2EC4457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2:05–2:35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C671A-A749-4DE5-8DAE-7B4BA9F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課後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2ADC7A-75B4-46C3-A239-9F1E4BE3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學習城市成長 →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召回精華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C6042A-326B-4E8A-8F0D-959E14C7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6A5D0-F3FA-464B-BD0D-DAF5FEF3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7900"/>
            <a:ext cx="1695450" cy="2952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D89F3-57E2-4AEF-B1A4-90F939FB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2:35–3:00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019C28-800A-454A-99CF-4A77C827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956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落點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650285-455C-41ED-B1EC-1685B175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AWS 架構＋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先補 replay 埋點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C12F62-6D7A-4B82-9D52-61162F28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291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B8BCC4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9FCD25-C1BC-49A3-B3BF-23036B6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57850"/>
            <a:ext cx="7620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3D4376-C91E-4ECA-A543-EEF9AED3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24525"/>
            <a:ext cx="739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錄影設定：1280×720｜游標放大 125%｜關通知｜使用 ?open= 快捷參數｜全程字幕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400050" y="6438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8DC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DA8451-B4AD-480E-9709-758173C1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LearnPulse｜PressPlay Academy × AWS Hackathon｜2026.07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D7637F-3687-44E0-8F81-821249C2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860873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D4AF8-9B08-48C9-81E4-D88897E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75115-35DC-465D-BA33-C1DFE539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48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先把 replay 埋點做真，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48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再讓每一次卡住都能被接住。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83358-DBE9-43FB-9266-B19544C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四週 Pilot｜1 門課｜真實重播事件｜延後介入 A/B｜創作者改善回饋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135A1-1A28-4F14-8F23-87A1919F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2BE65-0216-4A71-B845-380E74A6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需要的第一個決策：同意補上 video_replay 秒數埋點，啟動真實資料驗證。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A2030-AA58-408A-93AB-727993B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B6472"/>
                </a:solidFill>
                <a:latin typeface="PingFang TC"/>
                <a:ea typeface="PingFang TC"/>
                <a:cs typeface="PingFang TC"/>
              </a:rPr>
              <a:t>LearnPulse｜PressPlay Academy × AWS Hackathon</a:t>
            </a:r>
          </a:p>
        </p:txBody>
      </p:sp>
    </p:spTree>
    <p:extLst>
      <p:ext uri="{BB962C8B-B14F-4D97-AF65-F5344CB8AC3E}">
        <p14:creationId xmlns:p14="http://schemas.microsoft.com/office/powerpoint/2010/main" val="1887230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2026-07-15T09:38:13.4040000Z</dcterms:created>
  <dcterms:modified xsi:type="dcterms:W3CDTF">2026-07-15T09:38:13.4040000Z</dcterms:modified>
</coreProperties>
</file>