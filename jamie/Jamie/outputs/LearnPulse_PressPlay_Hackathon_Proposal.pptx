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303814b84848ce" /><Relationship Type="http://schemas.openxmlformats.org/officeDocument/2006/relationships/extended-properties" Target="/docProps/app.xml" Id="R95403d2c497c464e" /><Relationship Type="http://schemas.openxmlformats.org/officeDocument/2006/relationships/officeDocument" Target="/ppt/presentation.xml" Id="Rd2fa5638f3664a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14d2cd83c84f01"/>
  </p:sldMasterIdLst>
  <p:notesMasterIdLst>
    <p:notesMasterId xmlns:r="http://schemas.openxmlformats.org/officeDocument/2006/relationships" r:id="R343e76095a0d49a2"/>
  </p:notesMasterIdLst>
  <p:sldIdLst>
    <p:sldId xmlns:r="http://schemas.openxmlformats.org/officeDocument/2006/relationships" id="256" r:id="R446afe9efc7c4d5c"/>
    <p:sldId xmlns:r="http://schemas.openxmlformats.org/officeDocument/2006/relationships" id="257" r:id="R7188f0723d5c4681"/>
    <p:sldId xmlns:r="http://schemas.openxmlformats.org/officeDocument/2006/relationships" id="258" r:id="R1712f4892d4f4f7b"/>
    <p:sldId xmlns:r="http://schemas.openxmlformats.org/officeDocument/2006/relationships" id="259" r:id="Rcf71971df3fe4b73"/>
    <p:sldId xmlns:r="http://schemas.openxmlformats.org/officeDocument/2006/relationships" id="260" r:id="R2bc75b59dc6d4f03"/>
    <p:sldId xmlns:r="http://schemas.openxmlformats.org/officeDocument/2006/relationships" id="261" r:id="R160cd09f597d4a5f"/>
    <p:sldId xmlns:r="http://schemas.openxmlformats.org/officeDocument/2006/relationships" id="262" r:id="R06004cc549f947b4"/>
    <p:sldId xmlns:r="http://schemas.openxmlformats.org/officeDocument/2006/relationships" id="263" r:id="R7ae5c82893ca431a"/>
    <p:sldId xmlns:r="http://schemas.openxmlformats.org/officeDocument/2006/relationships" id="264" r:id="R85ab27d691fb4b58"/>
    <p:sldId xmlns:r="http://schemas.openxmlformats.org/officeDocument/2006/relationships" id="265" r:id="Rb952656c2d1f43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fc5110fb9f4446" /><Relationship Type="http://schemas.openxmlformats.org/officeDocument/2006/relationships/slideMaster" Target="/ppt/slideMasters/slideMaster1.xml" Id="R8514d2cd83c84f01" /><Relationship Type="http://schemas.openxmlformats.org/officeDocument/2006/relationships/notesMaster" Target="/ppt/notesMasters/notesMaster1.xml" Id="R343e76095a0d49a2" /><Relationship Type="http://schemas.openxmlformats.org/officeDocument/2006/relationships/presProps" Target="/ppt/presProps.xml" Id="Rd00e8a7106a343ce" /><Relationship Type="http://schemas.openxmlformats.org/officeDocument/2006/relationships/tableStyles" Target="/ppt/tableStyles.xml" Id="Rf55dd1a90ce243dc" /><Relationship Type="http://schemas.openxmlformats.org/officeDocument/2006/relationships/slide" Target="/ppt/slides/slide1.xml" Id="R446afe9efc7c4d5c" /><Relationship Type="http://schemas.openxmlformats.org/officeDocument/2006/relationships/slide" Target="/ppt/slides/slide2.xml" Id="R7188f0723d5c4681" /><Relationship Type="http://schemas.openxmlformats.org/officeDocument/2006/relationships/slide" Target="/ppt/slides/slide3.xml" Id="R1712f4892d4f4f7b" /><Relationship Type="http://schemas.openxmlformats.org/officeDocument/2006/relationships/slide" Target="/ppt/slides/slide4.xml" Id="Rcf71971df3fe4b73" /><Relationship Type="http://schemas.openxmlformats.org/officeDocument/2006/relationships/slide" Target="/ppt/slides/slide5.xml" Id="R2bc75b59dc6d4f03" /><Relationship Type="http://schemas.openxmlformats.org/officeDocument/2006/relationships/slide" Target="/ppt/slides/slide6.xml" Id="R160cd09f597d4a5f" /><Relationship Type="http://schemas.openxmlformats.org/officeDocument/2006/relationships/slide" Target="/ppt/slides/slide7.xml" Id="R06004cc549f947b4" /><Relationship Type="http://schemas.openxmlformats.org/officeDocument/2006/relationships/slide" Target="/ppt/slides/slide8.xml" Id="R7ae5c82893ca431a" /><Relationship Type="http://schemas.openxmlformats.org/officeDocument/2006/relationships/slide" Target="/ppt/slides/slide9.xml" Id="R85ab27d691fb4b58" /><Relationship Type="http://schemas.openxmlformats.org/officeDocument/2006/relationships/slide" Target="/ppt/slides/slide10.xml" Id="Rb952656c2d1f43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3d4a45943b42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5a5206c7fd4dee" /><Relationship Type="http://schemas.openxmlformats.org/officeDocument/2006/relationships/notesMaster" Target="/ppt/notesMasters/notesMaster1.xml" Id="R4f651a7d9da14a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62b6e7ebef445d" /><Relationship Type="http://schemas.openxmlformats.org/officeDocument/2006/relationships/notesMaster" Target="/ppt/notesMasters/notesMaster1.xml" Id="R0075f36b4d0242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0c17ed405f4009" /><Relationship Type="http://schemas.openxmlformats.org/officeDocument/2006/relationships/notesMaster" Target="/ppt/notesMasters/notesMaster1.xml" Id="R0e555b5a10254c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6fb81c9bc7429e" /><Relationship Type="http://schemas.openxmlformats.org/officeDocument/2006/relationships/notesMaster" Target="/ppt/notesMasters/notesMaster1.xml" Id="R7d50bedd575c4d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4532db255e441d" /><Relationship Type="http://schemas.openxmlformats.org/officeDocument/2006/relationships/notesMaster" Target="/ppt/notesMasters/notesMaster1.xml" Id="R52dde0810ad242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4002005120414f" /><Relationship Type="http://schemas.openxmlformats.org/officeDocument/2006/relationships/notesMaster" Target="/ppt/notesMasters/notesMaster1.xml" Id="R00ed0b538aaf4f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991b8f3ab2404a" /><Relationship Type="http://schemas.openxmlformats.org/officeDocument/2006/relationships/notesMaster" Target="/ppt/notesMasters/notesMaster1.xml" Id="Re1d7b4e4d73946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8fade146c64c1a" /><Relationship Type="http://schemas.openxmlformats.org/officeDocument/2006/relationships/notesMaster" Target="/ppt/notesMasters/notesMaster1.xml" Id="Rbd8f1b6b025549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2e14105e284f79" /><Relationship Type="http://schemas.openxmlformats.org/officeDocument/2006/relationships/notesMaster" Target="/ppt/notesMasters/notesMaster1.xml" Id="R7242afbb744d4f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c26ee61c6144ce" /><Relationship Type="http://schemas.openxmlformats.org/officeDocument/2006/relationships/notesMaster" Target="/ppt/notesMasters/notesMaster1.xml" Id="R3389a5f80bd24b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ab3e6b6d94b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38bc30e6f2409f" /><Relationship Type="http://schemas.openxmlformats.org/officeDocument/2006/relationships/slideLayout" Target="/ppt/slideLayouts/slideLayout1.xml" Id="Ra6139f685a6546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139f685a6546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719dc81ff4929" /><Relationship Type="http://schemas.openxmlformats.org/officeDocument/2006/relationships/notesSlide" Target="/ppt/notesSlides/notesSlide1.xml" Id="Rf6120a82850b48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be07669094851" /><Relationship Type="http://schemas.openxmlformats.org/officeDocument/2006/relationships/notesSlide" Target="/ppt/notesSlides/notesSlide2.xml" Id="Ra2462ff696834d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41eacc5b64955" /><Relationship Type="http://schemas.openxmlformats.org/officeDocument/2006/relationships/notesSlide" Target="/ppt/notesSlides/notesSlide3.xml" Id="R771f671ee21548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973bfa5d54472" /><Relationship Type="http://schemas.openxmlformats.org/officeDocument/2006/relationships/notesSlide" Target="/ppt/notesSlides/notesSlide4.xml" Id="R3283212d6e5f41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510ebde804ac6" /><Relationship Type="http://schemas.openxmlformats.org/officeDocument/2006/relationships/notesSlide" Target="/ppt/notesSlides/notesSlide5.xml" Id="R4ce1820f17b649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8b671f45b40a5" /><Relationship Type="http://schemas.openxmlformats.org/officeDocument/2006/relationships/notesSlide" Target="/ppt/notesSlides/notesSlide6.xml" Id="R2485ec1a3a0d40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d498694524232" /><Relationship Type="http://schemas.openxmlformats.org/officeDocument/2006/relationships/notesSlide" Target="/ppt/notesSlides/notesSlide7.xml" Id="Rf3876639991545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d1f313c514f34" /><Relationship Type="http://schemas.openxmlformats.org/officeDocument/2006/relationships/notesSlide" Target="/ppt/notesSlides/notesSlide8.xml" Id="Rfc44f7b28d0c48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c4cd14ac746ba" /><Relationship Type="http://schemas.openxmlformats.org/officeDocument/2006/relationships/notesSlide" Target="/ppt/notesSlides/notesSlide9.xml" Id="Rb638da4c52cf42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b235104594719" /><Relationship Type="http://schemas.openxmlformats.org/officeDocument/2006/relationships/notesSlide" Target="/ppt/notesSlides/notesSlide10.xml" Id="R7b82fdd9872746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yellow-rail">
            <a:extLst xmlns:a="http://schemas.openxmlformats.org/drawingml/2006/main">
              <a:ext uri="{FF2B5EF4-FFF2-40B4-BE49-F238E27FC236}">
                <a16:creationId xmlns:a16="http://schemas.microsoft.com/office/drawing/2014/main" id="{E2E642CC-C27C-41CE-A251-C4073BE7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ill-PRESSPLAY ACADEMY × AWS HACKATHON">
            <a:extLst xmlns:a="http://schemas.openxmlformats.org/drawingml/2006/main">
              <a:ext uri="{FF2B5EF4-FFF2-40B4-BE49-F238E27FC236}">
                <a16:creationId xmlns:a16="http://schemas.microsoft.com/office/drawing/2014/main" id="{A2766648-3EB7-49D4-8E09-9FF7BF2C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952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ltxt-PRESSPLAY ACADEMY × AWS HACKATHON">
            <a:extLst xmlns:a="http://schemas.openxmlformats.org/drawingml/2006/main">
              <a:ext uri="{FF2B5EF4-FFF2-40B4-BE49-F238E27FC236}">
                <a16:creationId xmlns:a16="http://schemas.microsoft.com/office/drawing/2014/main" id="{77E13083-017C-4C4B-B0FF-DFDC4C7B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PRESSPLAY ACADEMY × AWS HACKATHON</a:t>
            </a:r>
          </a:p>
        </p:txBody>
      </p:sp>
      <p:sp>
        <p:nvSpPr>
          <p:cNvPr id="4" name="brand">
            <a:extLst xmlns:a="http://schemas.openxmlformats.org/drawingml/2006/main">
              <a:ext uri="{FF2B5EF4-FFF2-40B4-BE49-F238E27FC236}">
                <a16:creationId xmlns:a16="http://schemas.microsoft.com/office/drawing/2014/main" id="{AE26B067-8862-4384-9364-A3EF978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LearnPulse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98EE7E5-8830-41DB-A9F0-F755FCDD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6381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把每一次卡住，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變成繼續學下去的理由</a:t>
            </a:r>
          </a:p>
        </p:txBody>
      </p:sp>
      <p:sp>
        <p:nvSpPr>
          <p:cNvPr id="6" name="cover-sub">
            <a:extLst xmlns:a="http://schemas.openxmlformats.org/drawingml/2006/main">
              <a:ext uri="{FF2B5EF4-FFF2-40B4-BE49-F238E27FC236}">
                <a16:creationId xmlns:a16="http://schemas.microsoft.com/office/drawing/2014/main" id="{FBB09BBC-05D4-4E02-BC8F-B95F689B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C9C8C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C9C8C2"/>
                </a:solidFill>
                <a:latin typeface="PingFang TC"/>
                <a:ea typeface="PingFang TC"/>
                <a:cs typeface="PingFang TC"/>
              </a:rPr>
              <a:t>情緒感知式學習續航系統｜偵測卡頓、即時介入、站外召回</a:t>
            </a:r>
          </a:p>
        </p:txBody>
      </p:sp>
      <p:sp>
        <p:nvSpPr>
          <p:cNvPr id="7" name="pill-可操作 Prototype">
            <a:extLst xmlns:a="http://schemas.openxmlformats.org/drawingml/2006/main">
              <a:ext uri="{FF2B5EF4-FFF2-40B4-BE49-F238E27FC236}">
                <a16:creationId xmlns:a16="http://schemas.microsoft.com/office/drawing/2014/main" id="{412E7712-A867-4395-9116-034082D9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lltxt-可操作 Prototype">
            <a:extLst xmlns:a="http://schemas.openxmlformats.org/drawingml/2006/main">
              <a:ext uri="{FF2B5EF4-FFF2-40B4-BE49-F238E27FC236}">
                <a16:creationId xmlns:a16="http://schemas.microsoft.com/office/drawing/2014/main" id="{CDD14242-597F-452B-8549-16E9856B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可操作 Prototype</a:t>
            </a:r>
          </a:p>
        </p:txBody>
      </p:sp>
      <p:sp>
        <p:nvSpPr>
          <p:cNvPr id="9" name="pill-資料閉環">
            <a:extLst xmlns:a="http://schemas.openxmlformats.org/drawingml/2006/main">
              <a:ext uri="{FF2B5EF4-FFF2-40B4-BE49-F238E27FC236}">
                <a16:creationId xmlns:a16="http://schemas.microsoft.com/office/drawing/2014/main" id="{C585BE58-CA6E-435B-9966-FE152046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672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7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lltxt-資料閉環">
            <a:extLst xmlns:a="http://schemas.openxmlformats.org/drawingml/2006/main">
              <a:ext uri="{FF2B5EF4-FFF2-40B4-BE49-F238E27FC236}">
                <a16:creationId xmlns:a16="http://schemas.microsoft.com/office/drawing/2014/main" id="{E9037C9A-9FEA-4C7D-8708-6F359FE4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672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資料閉環</a:t>
            </a:r>
          </a:p>
        </p:txBody>
      </p:sp>
      <p:sp>
        <p:nvSpPr>
          <p:cNvPr id="11" name="pill-Mock 誠信標示">
            <a:extLst xmlns:a="http://schemas.openxmlformats.org/drawingml/2006/main">
              <a:ext uri="{FF2B5EF4-FFF2-40B4-BE49-F238E27FC236}">
                <a16:creationId xmlns:a16="http://schemas.microsoft.com/office/drawing/2014/main" id="{1FE4FE19-B153-48BB-BF06-807D3C9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illtxt-Mock 誠信標示">
            <a:extLst xmlns:a="http://schemas.openxmlformats.org/drawingml/2006/main">
              <a:ext uri="{FF2B5EF4-FFF2-40B4-BE49-F238E27FC236}">
                <a16:creationId xmlns:a16="http://schemas.microsoft.com/office/drawing/2014/main" id="{9DA990FB-4383-46ED-83D2-216A5875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Mock 誠信標示</a:t>
            </a:r>
          </a:p>
        </p:txBody>
      </p:sp>
      <p:sp>
        <p:nvSpPr>
          <p:cNvPr id="13" name="cover-stage">
            <a:extLst xmlns:a="http://schemas.openxmlformats.org/drawingml/2006/main">
              <a:ext uri="{FF2B5EF4-FFF2-40B4-BE49-F238E27FC236}">
                <a16:creationId xmlns:a16="http://schemas.microsoft.com/office/drawing/2014/main" id="{F49193AE-4F48-4F0A-A6E9-7866D05A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95350"/>
            <a:ext cx="4000500" cy="495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2231F"/>
          </a:solidFill>
          <a:ln xmlns:a="http://schemas.openxmlformats.org/drawingml/2006/main" w="9525">
            <a:solidFill>
              <a:srgbClr val="3A3B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cover-ui-label">
            <a:extLst xmlns:a="http://schemas.openxmlformats.org/drawingml/2006/main">
              <a:ext uri="{FF2B5EF4-FFF2-40B4-BE49-F238E27FC236}">
                <a16:creationId xmlns:a16="http://schemas.microsoft.com/office/drawing/2014/main" id="{FFB8A512-5323-4AFF-8AFF-F47EEAA8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00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D63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D63D"/>
                </a:solidFill>
                <a:latin typeface="PingFang TC"/>
                <a:ea typeface="PingFang TC"/>
                <a:cs typeface="PingFang TC"/>
              </a:rPr>
              <a:t>LEARNING PULSE / 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04FDA-94FA-45A8-866B-3127B867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05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16708-2207-473F-90A0-FDB95297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00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32D3F-A7C0-48CC-B38C-8F754EBA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924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6F5AA-39AD-444F-9AA1-839F4D03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52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8F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7" name=""/>
          <p:cNvCxnSpPr>
            <a:stCxn xmlns:a="http://schemas.openxmlformats.org/drawingml/2006/main" id="15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 rot="5400000">
            <a:off x="8558213" y="1824038"/>
            <a:ext cx="504825" cy="11430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FFD63D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6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 rot="16200000" flipH="1">
            <a:off x="9767888" y="2043113"/>
            <a:ext cx="923925" cy="11239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F06E55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7" idx="4"/>
            <a:endCxn xmlns:a="http://schemas.openxmlformats.org/drawingml/2006/main" id="18" idx="6"/>
          </p:cNvCxnSpPr>
          <p:nvPr/>
        </p:nvCxnSpPr>
        <p:spPr>
          <a:xfrm xmlns:a="http://schemas.openxmlformats.org/drawingml/2006/main" rot="5400000">
            <a:off x="9858375" y="3019425"/>
            <a:ext cx="885825" cy="12668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F806C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8" idx="2"/>
            <a:endCxn xmlns:a="http://schemas.openxmlformats.org/drawingml/2006/main" id="15" idx="4"/>
          </p:cNvCxnSpPr>
          <p:nvPr/>
        </p:nvCxnSpPr>
        <p:spPr>
          <a:xfrm xmlns:a="http://schemas.openxmlformats.org/drawingml/2006/main" rot="16200000" flipH="1">
            <a:off x="8086725" y="2800350"/>
            <a:ext cx="1304925" cy="12858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5878F2"/>
            </a:solidFill>
            <a:prstDash val="solid"/>
            <a:tailEnd type="arrow" w="sm" len="sm"/>
          </a:ln>
        </p:spPr>
      </p:cxnSp>
      <p:sp>
        <p:nvSpPr>
          <p:cNvPr id="23" name="cover-state1">
            <a:extLst xmlns:a="http://schemas.openxmlformats.org/drawingml/2006/main">
              <a:ext uri="{FF2B5EF4-FFF2-40B4-BE49-F238E27FC236}">
                <a16:creationId xmlns:a16="http://schemas.microsoft.com/office/drawing/2014/main" id="{F24C92BE-BBB5-4247-B1BB-C189C114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重播 ×2</a:t>
            </a:r>
          </a:p>
        </p:txBody>
      </p:sp>
      <p:sp>
        <p:nvSpPr>
          <p:cNvPr id="24" name="cover-state2">
            <a:extLst xmlns:a="http://schemas.openxmlformats.org/drawingml/2006/main">
              <a:ext uri="{FF2B5EF4-FFF2-40B4-BE49-F238E27FC236}">
                <a16:creationId xmlns:a16="http://schemas.microsoft.com/office/drawing/2014/main" id="{D77D1CF7-87FE-4B42-A063-640566C9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卡關訊號</a:t>
            </a:r>
          </a:p>
        </p:txBody>
      </p:sp>
      <p:sp>
        <p:nvSpPr>
          <p:cNvPr id="25" name="cover-state3">
            <a:extLst xmlns:a="http://schemas.openxmlformats.org/drawingml/2006/main">
              <a:ext uri="{FF2B5EF4-FFF2-40B4-BE49-F238E27FC236}">
                <a16:creationId xmlns:a16="http://schemas.microsoft.com/office/drawing/2014/main" id="{8CC81B01-510C-47C2-A894-BE0B1AE5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371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換個解法</a:t>
            </a:r>
          </a:p>
        </p:txBody>
      </p:sp>
      <p:sp>
        <p:nvSpPr>
          <p:cNvPr id="26" name="cover-state4">
            <a:extLst xmlns:a="http://schemas.openxmlformats.org/drawingml/2006/main">
              <a:ext uri="{FF2B5EF4-FFF2-40B4-BE49-F238E27FC236}">
                <a16:creationId xmlns:a16="http://schemas.microsoft.com/office/drawing/2014/main" id="{016865D0-5A2D-4D99-B115-5370DA88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291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恢復學習</a:t>
            </a:r>
          </a:p>
        </p:txBody>
      </p:sp>
      <p:sp>
        <p:nvSpPr>
          <p:cNvPr id="27" name="cover-loop">
            <a:extLst xmlns:a="http://schemas.openxmlformats.org/drawingml/2006/main">
              <a:ext uri="{FF2B5EF4-FFF2-40B4-BE49-F238E27FC236}">
                <a16:creationId xmlns:a16="http://schemas.microsoft.com/office/drawing/2014/main" id="{9BC3C0F8-E7F6-4D09-9C39-14E9A776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57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一個可量測的學習恢復閉環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AFF6B143-C53A-489D-B25E-ECB66E86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F908A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8F908A"/>
                </a:solidFill>
                <a:latin typeface="PingFang TC"/>
                <a:ea typeface="PingFang TC"/>
                <a:cs typeface="PingFang TC"/>
              </a:rPr>
              <a:t>LearnPulse｜Hackathon Proposal｜2026.07</a:t>
            </a:r>
          </a:p>
        </p:txBody>
      </p:sp>
    </p:spTree>
    <p:extLst>
      <p:ext uri="{BB962C8B-B14F-4D97-AF65-F5344CB8AC3E}">
        <p14:creationId xmlns:p14="http://schemas.microsoft.com/office/powerpoint/2010/main" val="4074019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-2">
            <a:extLst xmlns:a="http://schemas.openxmlformats.org/drawingml/2006/main">
              <a:ext uri="{FF2B5EF4-FFF2-40B4-BE49-F238E27FC236}">
                <a16:creationId xmlns:a16="http://schemas.microsoft.com/office/drawing/2014/main" id="{53CA8055-1429-47C1-A7B9-13787784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132C9374-BB02-4CCD-B021-9634EE0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USER PROBLEM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61D54BF1-E58C-43B4-8927-ACABEDE9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不是沒有內容，而是卡住時沒有人接手</a:t>
            </a:r>
          </a:p>
        </p:txBody>
      </p:sp>
      <p:sp>
        <p:nvSpPr>
          <p:cNvPr id="4" name="sub-2">
            <a:extLst xmlns:a="http://schemas.openxmlformats.org/drawingml/2006/main">
              <a:ext uri="{FF2B5EF4-FFF2-40B4-BE49-F238E27FC236}">
                <a16:creationId xmlns:a16="http://schemas.microsoft.com/office/drawing/2014/main" id="{166418A8-E4D7-4721-8531-5EC904B5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同一個「跳看」可能代表困惑、挫折、內容過淺或已經掌握。錯誤介入，比不介入更容易流失。</a:t>
            </a:r>
          </a:p>
        </p:txBody>
      </p:sp>
      <p:sp>
        <p:nvSpPr>
          <p:cNvPr id="5" name="journey-0">
            <a:extLst xmlns:a="http://schemas.openxmlformats.org/drawingml/2006/main">
              <a:ext uri="{FF2B5EF4-FFF2-40B4-BE49-F238E27FC236}">
                <a16:creationId xmlns:a16="http://schemas.microsoft.com/office/drawing/2014/main" id="{99415F84-2844-43F0-AE81-C78955CF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0955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journey-1">
            <a:extLst xmlns:a="http://schemas.openxmlformats.org/drawingml/2006/main">
              <a:ext uri="{FF2B5EF4-FFF2-40B4-BE49-F238E27FC236}">
                <a16:creationId xmlns:a16="http://schemas.microsoft.com/office/drawing/2014/main" id="{5C740F34-24B6-4B0E-B843-2CFD65D8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43150"/>
            <a:ext cx="20955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journey-2">
            <a:extLst xmlns:a="http://schemas.openxmlformats.org/drawingml/2006/main">
              <a:ext uri="{FF2B5EF4-FFF2-40B4-BE49-F238E27FC236}">
                <a16:creationId xmlns:a16="http://schemas.microsoft.com/office/drawing/2014/main" id="{56606573-BB5E-4E9C-98B4-A58F9937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3150"/>
            <a:ext cx="20955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journey-3">
            <a:extLst xmlns:a="http://schemas.openxmlformats.org/drawingml/2006/main">
              <a:ext uri="{FF2B5EF4-FFF2-40B4-BE49-F238E27FC236}">
                <a16:creationId xmlns:a16="http://schemas.microsoft.com/office/drawing/2014/main" id="{B83DCC18-671F-4727-A98C-8C94A419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0955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81300" y="31527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EDACE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372100" y="31527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6E55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962900" y="31527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EDACE"/>
            </a:solidFill>
            <a:prstDash val="solid"/>
            <a:tailEnd type="arrow" w="sm" len="sm"/>
          </a:ln>
        </p:spPr>
      </p:cxnSp>
      <p:sp>
        <p:nvSpPr>
          <p:cNvPr id="12" name="j-num-0">
            <a:extLst xmlns:a="http://schemas.openxmlformats.org/drawingml/2006/main">
              <a:ext uri="{FF2B5EF4-FFF2-40B4-BE49-F238E27FC236}">
                <a16:creationId xmlns:a16="http://schemas.microsoft.com/office/drawing/2014/main" id="{8B0B2CB7-409B-464B-8F86-4FF354CE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3" name="j-title-0">
            <a:extLst xmlns:a="http://schemas.openxmlformats.org/drawingml/2006/main">
              <a:ext uri="{FF2B5EF4-FFF2-40B4-BE49-F238E27FC236}">
                <a16:creationId xmlns:a16="http://schemas.microsoft.com/office/drawing/2014/main" id="{AB884DE8-EA40-41CC-B739-540E018A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打開課程</a:t>
            </a:r>
          </a:p>
        </p:txBody>
      </p:sp>
      <p:sp>
        <p:nvSpPr>
          <p:cNvPr id="14" name="j-desc-0">
            <a:extLst xmlns:a="http://schemas.openxmlformats.org/drawingml/2006/main">
              <a:ext uri="{FF2B5EF4-FFF2-40B4-BE49-F238E27FC236}">
                <a16:creationId xmlns:a16="http://schemas.microsoft.com/office/drawing/2014/main" id="{087FEB3A-04C3-4459-B34C-9ED2E4B6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有明確學習意圖</a:t>
            </a:r>
          </a:p>
        </p:txBody>
      </p:sp>
      <p:sp>
        <p:nvSpPr>
          <p:cNvPr id="15" name="j-num-1">
            <a:extLst xmlns:a="http://schemas.openxmlformats.org/drawingml/2006/main">
              <a:ext uri="{FF2B5EF4-FFF2-40B4-BE49-F238E27FC236}">
                <a16:creationId xmlns:a16="http://schemas.microsoft.com/office/drawing/2014/main" id="{C60D5F97-DCC3-4689-A8D0-76573E43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9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j-title-1">
            <a:extLst xmlns:a="http://schemas.openxmlformats.org/drawingml/2006/main">
              <a:ext uri="{FF2B5EF4-FFF2-40B4-BE49-F238E27FC236}">
                <a16:creationId xmlns:a16="http://schemas.microsoft.com/office/drawing/2014/main" id="{836CC5F4-F084-4C0B-AFB2-310AB078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遇到摩擦</a:t>
            </a:r>
          </a:p>
        </p:txBody>
      </p:sp>
      <p:sp>
        <p:nvSpPr>
          <p:cNvPr id="17" name="j-desc-1">
            <a:extLst xmlns:a="http://schemas.openxmlformats.org/drawingml/2006/main">
              <a:ext uri="{FF2B5EF4-FFF2-40B4-BE49-F238E27FC236}">
                <a16:creationId xmlns:a16="http://schemas.microsoft.com/office/drawing/2014/main" id="{B5B9BB3A-8FF1-4DA8-B755-2EAD98BE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重播／跳看／重複提問</a:t>
            </a:r>
          </a:p>
        </p:txBody>
      </p:sp>
      <p:sp>
        <p:nvSpPr>
          <p:cNvPr id="18" name="j-num-2">
            <a:extLst xmlns:a="http://schemas.openxmlformats.org/drawingml/2006/main">
              <a:ext uri="{FF2B5EF4-FFF2-40B4-BE49-F238E27FC236}">
                <a16:creationId xmlns:a16="http://schemas.microsoft.com/office/drawing/2014/main" id="{D691ACB4-1397-4D97-989E-355693C2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9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9" name="j-title-2">
            <a:extLst xmlns:a="http://schemas.openxmlformats.org/drawingml/2006/main">
              <a:ext uri="{FF2B5EF4-FFF2-40B4-BE49-F238E27FC236}">
                <a16:creationId xmlns:a16="http://schemas.microsoft.com/office/drawing/2014/main" id="{08753D77-08B4-43E8-A925-CBF81DF4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57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離開頁面</a:t>
            </a:r>
          </a:p>
        </p:txBody>
      </p:sp>
      <p:sp>
        <p:nvSpPr>
          <p:cNvPr id="20" name="j-desc-2">
            <a:extLst xmlns:a="http://schemas.openxmlformats.org/drawingml/2006/main">
              <a:ext uri="{FF2B5EF4-FFF2-40B4-BE49-F238E27FC236}">
                <a16:creationId xmlns:a16="http://schemas.microsoft.com/office/drawing/2014/main" id="{DD830651-6A48-49D8-9A73-A8311C86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956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沒有被理解或給下一步</a:t>
            </a:r>
          </a:p>
        </p:txBody>
      </p:sp>
      <p:sp>
        <p:nvSpPr>
          <p:cNvPr id="21" name="j-num-3">
            <a:extLst xmlns:a="http://schemas.openxmlformats.org/drawingml/2006/main">
              <a:ext uri="{FF2B5EF4-FFF2-40B4-BE49-F238E27FC236}">
                <a16:creationId xmlns:a16="http://schemas.microsoft.com/office/drawing/2014/main" id="{8B609132-BBC4-4F6C-B524-9555E8AE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9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D63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D63D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2" name="j-title-3">
            <a:extLst xmlns:a="http://schemas.openxmlformats.org/drawingml/2006/main">
              <a:ext uri="{FF2B5EF4-FFF2-40B4-BE49-F238E27FC236}">
                <a16:creationId xmlns:a16="http://schemas.microsoft.com/office/drawing/2014/main" id="{A3209FBF-CEFF-4922-BEA3-42D31826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57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流失風險</a:t>
            </a:r>
          </a:p>
        </p:txBody>
      </p:sp>
      <p:sp>
        <p:nvSpPr>
          <p:cNvPr id="23" name="j-desc-3">
            <a:extLst xmlns:a="http://schemas.openxmlformats.org/drawingml/2006/main">
              <a:ext uri="{FF2B5EF4-FFF2-40B4-BE49-F238E27FC236}">
                <a16:creationId xmlns:a16="http://schemas.microsoft.com/office/drawing/2014/main" id="{8A19B7AD-CBD5-4F67-92BC-6D251BAC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956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9C8C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9C8C2"/>
                </a:solidFill>
                <a:latin typeface="PingFang TC"/>
                <a:ea typeface="PingFang TC"/>
                <a:cs typeface="PingFang TC"/>
              </a:rPr>
              <a:t>完課、留存與續購一起下降</a:t>
            </a:r>
          </a:p>
        </p:txBody>
      </p:sp>
      <p:sp>
        <p:nvSpPr>
          <p:cNvPr id="24" name="pain-callout">
            <a:extLst xmlns:a="http://schemas.openxmlformats.org/drawingml/2006/main">
              <a:ext uri="{FF2B5EF4-FFF2-40B4-BE49-F238E27FC236}">
                <a16:creationId xmlns:a16="http://schemas.microsoft.com/office/drawing/2014/main" id="{F31A8757-0144-4037-B22E-F025C385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5334000" cy="1009650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E4DD"/>
          </a:solidFill>
          <a:ln xmlns:a="http://schemas.openxmlformats.org/drawingml/2006/main" w="9525">
            <a:solidFill>
              <a:srgbClr val="F06E55"/>
            </a:solidFill>
            <a:prstDash val="solid"/>
          </a:ln>
        </p:spPr>
      </p:sp>
      <p:sp>
        <p:nvSpPr>
          <p:cNvPr id="25" name="pain-callout-big">
            <a:extLst xmlns:a="http://schemas.openxmlformats.org/drawingml/2006/main">
              <a:ext uri="{FF2B5EF4-FFF2-40B4-BE49-F238E27FC236}">
                <a16:creationId xmlns:a16="http://schemas.microsoft.com/office/drawing/2014/main" id="{70EBE035-DF9F-4DDB-B99A-2F687FF6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6725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平台看得到行為，卻看不到原因</a:t>
            </a:r>
          </a:p>
        </p:txBody>
      </p:sp>
      <p:sp>
        <p:nvSpPr>
          <p:cNvPr id="26" name="pain-callout-small">
            <a:extLst xmlns:a="http://schemas.openxmlformats.org/drawingml/2006/main">
              <a:ext uri="{FF2B5EF4-FFF2-40B4-BE49-F238E27FC236}">
                <a16:creationId xmlns:a16="http://schemas.microsoft.com/office/drawing/2014/main" id="{CDD2A5E3-8300-4918-A95B-730C7FDE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4825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LearnPulse 的切入點：用多訊號推估「需要哪一種幫助」，而非診斷情緒。</a:t>
            </a: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9D674D0B-246F-413B-BD97-65DF70D6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rPr>
              <a:t>來源：專案產品需求與 Demo 情境；目前為 Mock Data / Rule-based Demo Inference</a:t>
            </a:r>
          </a:p>
        </p:txBody>
      </p:sp>
    </p:spTree>
    <p:extLst>
      <p:ext uri="{BB962C8B-B14F-4D97-AF65-F5344CB8AC3E}">
        <p14:creationId xmlns:p14="http://schemas.microsoft.com/office/powerpoint/2010/main" val="799874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-3">
            <a:extLst xmlns:a="http://schemas.openxmlformats.org/drawingml/2006/main">
              <a:ext uri="{FF2B5EF4-FFF2-40B4-BE49-F238E27FC236}">
                <a16:creationId xmlns:a16="http://schemas.microsoft.com/office/drawing/2014/main" id="{C4790FFB-825A-43B1-8BA0-F0AAA595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D63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D63D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782EE681-89EC-465B-9883-7EA55E48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B8B8B3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B8B8B3"/>
                </a:solidFill>
                <a:latin typeface="PingFang TC"/>
                <a:ea typeface="PingFang TC"/>
                <a:cs typeface="PingFang TC"/>
              </a:rPr>
              <a:t>DATA INSIGHT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7EFCEC3-56B6-4F15-9A3D-ADA4F0B4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已經創造學習深度，真正缺口是持續性</a:t>
            </a:r>
          </a:p>
        </p:txBody>
      </p:sp>
      <p:sp>
        <p:nvSpPr>
          <p:cNvPr id="4" name="sub-3">
            <a:extLst xmlns:a="http://schemas.openxmlformats.org/drawingml/2006/main">
              <a:ext uri="{FF2B5EF4-FFF2-40B4-BE49-F238E27FC236}">
                <a16:creationId xmlns:a16="http://schemas.microsoft.com/office/drawing/2014/main" id="{AF074A84-D140-4072-BE0B-08C52411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8B8B3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B8B8B3"/>
                </a:solidFill>
                <a:latin typeface="PingFang TC"/>
                <a:ea typeface="PingFang TC"/>
                <a:cs typeface="PingFang TC"/>
              </a:rPr>
              <a:t>官方簡報數字顯示：使用 AI 的價值成立，但黏著度會在新鮮感後快速下滑。</a:t>
            </a:r>
          </a:p>
        </p:txBody>
      </p:sp>
      <p:sp>
        <p:nvSpPr>
          <p:cNvPr id="5" name="retention-chart">
            <a:extLst xmlns:a="http://schemas.openxmlformats.org/drawingml/2006/main">
              <a:ext uri="{FF2B5EF4-FFF2-40B4-BE49-F238E27FC236}">
                <a16:creationId xmlns:a16="http://schemas.microsoft.com/office/drawing/2014/main" id="{E66779EE-47FC-410D-937F-D6FC4D45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143500" cy="3429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2231F"/>
          </a:solidFill>
          <a:ln xmlns:a="http://schemas.openxmlformats.org/drawingml/2006/main" w="9525">
            <a:solidFill>
              <a:srgbClr val="3A3B35"/>
            </a:solidFill>
            <a:prstDash val="solid"/>
          </a:ln>
        </p:spPr>
      </p:sp>
      <p:sp>
        <p:nvSpPr>
          <p:cNvPr id="6" name="chart-title">
            <a:extLst xmlns:a="http://schemas.openxmlformats.org/drawingml/2006/main">
              <a:ext uri="{FF2B5EF4-FFF2-40B4-BE49-F238E27FC236}">
                <a16:creationId xmlns:a16="http://schemas.microsoft.com/office/drawing/2014/main" id="{A8582A0C-F35B-427C-9C44-04AFAA10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助教黏著度</a:t>
            </a:r>
          </a:p>
        </p:txBody>
      </p:sp>
      <p:sp>
        <p:nvSpPr>
          <p:cNvPr id="7" name="chart-note">
            <a:extLst xmlns:a="http://schemas.openxmlformats.org/drawingml/2006/main">
              <a:ext uri="{FF2B5EF4-FFF2-40B4-BE49-F238E27FC236}">
                <a16:creationId xmlns:a16="http://schemas.microsoft.com/office/drawing/2014/main" id="{50D81917-2F61-4373-9BF3-7DE57745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B9C96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B9C96"/>
                </a:solidFill>
                <a:latin typeface="PingFang TC"/>
                <a:ea typeface="PingFang TC"/>
                <a:cs typeface="PingFang TC"/>
              </a:rPr>
              <a:t>DAU / MAU（官方說明會口述）</a:t>
            </a:r>
          </a:p>
        </p:txBody>
      </p:sp>
      <p:sp>
        <p:nvSpPr>
          <p:cNvPr id="8" name="axis">
            <a:extLst xmlns:a="http://schemas.openxmlformats.org/drawingml/2006/main">
              <a:ext uri="{FF2B5EF4-FFF2-40B4-BE49-F238E27FC236}">
                <a16:creationId xmlns:a16="http://schemas.microsoft.com/office/drawing/2014/main" id="{DD709347-969B-45D1-A0AF-F40D94B9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EDA32165-EB2C-4C1B-9576-96EC8341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1047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rv-0">
            <a:extLst xmlns:a="http://schemas.openxmlformats.org/drawingml/2006/main">
              <a:ext uri="{FF2B5EF4-FFF2-40B4-BE49-F238E27FC236}">
                <a16:creationId xmlns:a16="http://schemas.microsoft.com/office/drawing/2014/main" id="{CB715B33-E8C0-4871-A49F-ED583D7E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62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29%</a:t>
            </a:r>
          </a:p>
        </p:txBody>
      </p:sp>
      <p:sp>
        <p:nvSpPr>
          <p:cNvPr id="11" name="barl-0">
            <a:extLst xmlns:a="http://schemas.openxmlformats.org/drawingml/2006/main">
              <a:ext uri="{FF2B5EF4-FFF2-40B4-BE49-F238E27FC236}">
                <a16:creationId xmlns:a16="http://schemas.microsoft.com/office/drawing/2014/main" id="{616A8138-EA48-4842-BCE3-FF9FC6C2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B8B8B3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B8B8B3"/>
                </a:solidFill>
                <a:latin typeface="PingFang TC"/>
                <a:ea typeface="PingFang TC"/>
                <a:cs typeface="PingFang TC"/>
              </a:rPr>
              <a:t>上線初期</a:t>
            </a:r>
          </a:p>
        </p:txBody>
      </p:sp>
      <p:sp>
        <p:nvSpPr>
          <p:cNvPr id="12" name="bar-1">
            <a:extLst xmlns:a="http://schemas.openxmlformats.org/drawingml/2006/main">
              <a:ext uri="{FF2B5EF4-FFF2-40B4-BE49-F238E27FC236}">
                <a16:creationId xmlns:a16="http://schemas.microsoft.com/office/drawing/2014/main" id="{945C4371-E706-412A-8A77-D1505619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104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rv-1">
            <a:extLst xmlns:a="http://schemas.openxmlformats.org/drawingml/2006/main">
              <a:ext uri="{FF2B5EF4-FFF2-40B4-BE49-F238E27FC236}">
                <a16:creationId xmlns:a16="http://schemas.microsoft.com/office/drawing/2014/main" id="{52203BE6-7656-4244-8C42-1167938C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&lt;10%</a:t>
            </a:r>
          </a:p>
        </p:txBody>
      </p:sp>
      <p:sp>
        <p:nvSpPr>
          <p:cNvPr id="14" name="barl-1">
            <a:extLst xmlns:a="http://schemas.openxmlformats.org/drawingml/2006/main">
              <a:ext uri="{FF2B5EF4-FFF2-40B4-BE49-F238E27FC236}">
                <a16:creationId xmlns:a16="http://schemas.microsoft.com/office/drawing/2014/main" id="{9E8B9D57-8CB0-4938-A635-E8A3C971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24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B8B8B3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B8B8B3"/>
                </a:solidFill>
                <a:latin typeface="PingFang TC"/>
                <a:ea typeface="PingFang TC"/>
                <a:cs typeface="PingFang TC"/>
              </a:rPr>
              <a:t>後續</a:t>
            </a:r>
          </a:p>
        </p:txBody>
      </p:sp>
      <p:sp>
        <p:nvSpPr>
          <p:cNvPr id="15" name="chart-insight">
            <a:extLst xmlns:a="http://schemas.openxmlformats.org/drawingml/2006/main">
              <a:ext uri="{FF2B5EF4-FFF2-40B4-BE49-F238E27FC236}">
                <a16:creationId xmlns:a16="http://schemas.microsoft.com/office/drawing/2014/main" id="{5C11403A-B697-43FF-9350-B90A3595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價值不是一次性問答；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要在學習旅程中持續接力。</a:t>
            </a:r>
          </a:p>
        </p:txBody>
      </p:sp>
      <p:sp>
        <p:nvSpPr>
          <p:cNvPr id="16" name="proof-label">
            <a:extLst xmlns:a="http://schemas.openxmlformats.org/drawingml/2006/main">
              <a:ext uri="{FF2B5EF4-FFF2-40B4-BE49-F238E27FC236}">
                <a16:creationId xmlns:a16="http://schemas.microsoft.com/office/drawing/2014/main" id="{03A29287-25A2-436B-A464-6DE55D25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D63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D63D"/>
                </a:solidFill>
                <a:latin typeface="PingFang TC"/>
                <a:ea typeface="PingFang TC"/>
                <a:cs typeface="PingFang TC"/>
              </a:rPr>
              <a:t>AI 使用者的學習行為</a:t>
            </a:r>
          </a:p>
        </p:txBody>
      </p:sp>
      <p:sp>
        <p:nvSpPr>
          <p:cNvPr id="17" name="proof-0">
            <a:extLst xmlns:a="http://schemas.openxmlformats.org/drawingml/2006/main">
              <a:ext uri="{FF2B5EF4-FFF2-40B4-BE49-F238E27FC236}">
                <a16:creationId xmlns:a16="http://schemas.microsoft.com/office/drawing/2014/main" id="{3B4702E5-69ED-44C9-9DF4-4BE85FA1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1524000" cy="219075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292A26"/>
          </a:solidFill>
          <a:ln xmlns:a="http://schemas.openxmlformats.org/drawingml/2006/main" w="9525">
            <a:solidFill>
              <a:srgbClr val="3B3C37"/>
            </a:solidFill>
            <a:prstDash val="solid"/>
          </a:ln>
        </p:spPr>
      </p:sp>
      <p:sp>
        <p:nvSpPr>
          <p:cNvPr id="18" name="proofv-0">
            <a:extLst xmlns:a="http://schemas.openxmlformats.org/drawingml/2006/main">
              <a:ext uri="{FF2B5EF4-FFF2-40B4-BE49-F238E27FC236}">
                <a16:creationId xmlns:a16="http://schemas.microsoft.com/office/drawing/2014/main" id="{387C16EC-2C38-4CD9-88E4-E45F650B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FFD63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FD63D"/>
                </a:solidFill>
                <a:latin typeface="PingFang TC"/>
                <a:ea typeface="PingFang TC"/>
                <a:cs typeface="PingFang TC"/>
              </a:rPr>
              <a:t>7×</a:t>
            </a:r>
          </a:p>
        </p:txBody>
      </p:sp>
      <p:sp>
        <p:nvSpPr>
          <p:cNvPr id="19" name="prooft-0">
            <a:extLst xmlns:a="http://schemas.openxmlformats.org/drawingml/2006/main">
              <a:ext uri="{FF2B5EF4-FFF2-40B4-BE49-F238E27FC236}">
                <a16:creationId xmlns:a16="http://schemas.microsoft.com/office/drawing/2014/main" id="{513F1D5A-5E78-4217-AD52-821F3F8D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1219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平均影片開啟次數</a:t>
            </a:r>
          </a:p>
        </p:txBody>
      </p:sp>
      <p:sp>
        <p:nvSpPr>
          <p:cNvPr id="20" name="proofline-0">
            <a:extLst xmlns:a="http://schemas.openxmlformats.org/drawingml/2006/main">
              <a:ext uri="{FF2B5EF4-FFF2-40B4-BE49-F238E27FC236}">
                <a16:creationId xmlns:a16="http://schemas.microsoft.com/office/drawing/2014/main" id="{C77FE3F1-4038-4EB8-9C63-7ADF103A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386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oof-1">
            <a:extLst xmlns:a="http://schemas.openxmlformats.org/drawingml/2006/main">
              <a:ext uri="{FF2B5EF4-FFF2-40B4-BE49-F238E27FC236}">
                <a16:creationId xmlns:a16="http://schemas.microsoft.com/office/drawing/2014/main" id="{F070EBD2-FBB6-4935-BB03-D643086F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1524000" cy="219075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292A26"/>
          </a:solidFill>
          <a:ln xmlns:a="http://schemas.openxmlformats.org/drawingml/2006/main" w="9525">
            <a:solidFill>
              <a:srgbClr val="3B3C37"/>
            </a:solidFill>
            <a:prstDash val="solid"/>
          </a:ln>
        </p:spPr>
      </p:sp>
      <p:sp>
        <p:nvSpPr>
          <p:cNvPr id="22" name="proofv-1">
            <a:extLst xmlns:a="http://schemas.openxmlformats.org/drawingml/2006/main">
              <a:ext uri="{FF2B5EF4-FFF2-40B4-BE49-F238E27FC236}">
                <a16:creationId xmlns:a16="http://schemas.microsoft.com/office/drawing/2014/main" id="{D642D813-5A96-4901-B80D-B5B96181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5878F2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5878F2"/>
                </a:solidFill>
                <a:latin typeface="PingFang TC"/>
                <a:ea typeface="PingFang TC"/>
                <a:cs typeface="PingFang TC"/>
              </a:rPr>
              <a:t>+84%</a:t>
            </a:r>
          </a:p>
        </p:txBody>
      </p:sp>
      <p:sp>
        <p:nvSpPr>
          <p:cNvPr id="23" name="prooft-1">
            <a:extLst xmlns:a="http://schemas.openxmlformats.org/drawingml/2006/main">
              <a:ext uri="{FF2B5EF4-FFF2-40B4-BE49-F238E27FC236}">
                <a16:creationId xmlns:a16="http://schemas.microsoft.com/office/drawing/2014/main" id="{C96CCF1D-C42E-48DF-8EEE-BA5F90AF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1219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來回 Session</a:t>
            </a:r>
          </a:p>
        </p:txBody>
      </p:sp>
      <p:sp>
        <p:nvSpPr>
          <p:cNvPr id="24" name="proofline-1">
            <a:extLst xmlns:a="http://schemas.openxmlformats.org/drawingml/2006/main">
              <a:ext uri="{FF2B5EF4-FFF2-40B4-BE49-F238E27FC236}">
                <a16:creationId xmlns:a16="http://schemas.microsoft.com/office/drawing/2014/main" id="{0A05E36C-71C2-44B4-922E-56AD395D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of-2">
            <a:extLst xmlns:a="http://schemas.openxmlformats.org/drawingml/2006/main">
              <a:ext uri="{FF2B5EF4-FFF2-40B4-BE49-F238E27FC236}">
                <a16:creationId xmlns:a16="http://schemas.microsoft.com/office/drawing/2014/main" id="{2648317F-5562-4D8E-92B0-7CF26484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1524000" cy="219075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292A26"/>
          </a:solidFill>
          <a:ln xmlns:a="http://schemas.openxmlformats.org/drawingml/2006/main" w="9525">
            <a:solidFill>
              <a:srgbClr val="3B3C37"/>
            </a:solidFill>
            <a:prstDash val="solid"/>
          </a:ln>
        </p:spPr>
      </p:sp>
      <p:sp>
        <p:nvSpPr>
          <p:cNvPr id="26" name="proofv-2">
            <a:extLst xmlns:a="http://schemas.openxmlformats.org/drawingml/2006/main">
              <a:ext uri="{FF2B5EF4-FFF2-40B4-BE49-F238E27FC236}">
                <a16:creationId xmlns:a16="http://schemas.microsoft.com/office/drawing/2014/main" id="{D8A2C708-59EF-4E00-9598-780809FF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099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+52%</a:t>
            </a:r>
          </a:p>
        </p:txBody>
      </p:sp>
      <p:sp>
        <p:nvSpPr>
          <p:cNvPr id="27" name="prooft-2">
            <a:extLst xmlns:a="http://schemas.openxmlformats.org/drawingml/2006/main">
              <a:ext uri="{FF2B5EF4-FFF2-40B4-BE49-F238E27FC236}">
                <a16:creationId xmlns:a16="http://schemas.microsoft.com/office/drawing/2014/main" id="{6CDE9647-4431-408F-B0DB-8D7370AB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33800"/>
            <a:ext cx="1219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更願意回到站上</a:t>
            </a:r>
          </a:p>
        </p:txBody>
      </p:sp>
      <p:sp>
        <p:nvSpPr>
          <p:cNvPr id="28" name="proofline-2">
            <a:extLst xmlns:a="http://schemas.openxmlformats.org/drawingml/2006/main">
              <a:ext uri="{FF2B5EF4-FFF2-40B4-BE49-F238E27FC236}">
                <a16:creationId xmlns:a16="http://schemas.microsoft.com/office/drawing/2014/main" id="{D74F15F5-8AE0-4D71-82E7-2ACE51A7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386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pportunity">
            <a:extLst xmlns:a="http://schemas.openxmlformats.org/drawingml/2006/main">
              <a:ext uri="{FF2B5EF4-FFF2-40B4-BE49-F238E27FC236}">
                <a16:creationId xmlns:a16="http://schemas.microsoft.com/office/drawing/2014/main" id="{8D17C978-9DD9-41B7-B6E8-C88FDBE7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81600"/>
            <a:ext cx="50292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pportunity-text">
            <a:extLst xmlns:a="http://schemas.openxmlformats.org/drawingml/2006/main">
              <a:ext uri="{FF2B5EF4-FFF2-40B4-BE49-F238E27FC236}">
                <a16:creationId xmlns:a16="http://schemas.microsoft.com/office/drawing/2014/main" id="{D7647F02-3C5B-476A-8A22-D38E98E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機會：把 AI 從「工具」升級成「續航系統」</a:t>
            </a:r>
          </a:p>
        </p:txBody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DCDB504E-E8B6-4D1A-90EE-19C10933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F908A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8F908A"/>
                </a:solidFill>
                <a:latin typeface="PingFang TC"/>
                <a:ea typeface="PingFang TC"/>
                <a:cs typeface="PingFang TC"/>
              </a:rPr>
              <a:t>來源：PressPlay 命題說明會（專案檔 說明會.txt）；數字為官方口述基準，非 LearnPulse 成效</a:t>
            </a:r>
          </a:p>
        </p:txBody>
      </p:sp>
    </p:spTree>
    <p:extLst>
      <p:ext uri="{BB962C8B-B14F-4D97-AF65-F5344CB8AC3E}">
        <p14:creationId xmlns:p14="http://schemas.microsoft.com/office/powerpoint/2010/main" val="1475020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-4">
            <a:extLst xmlns:a="http://schemas.openxmlformats.org/drawingml/2006/main">
              <a:ext uri="{FF2B5EF4-FFF2-40B4-BE49-F238E27FC236}">
                <a16:creationId xmlns:a16="http://schemas.microsoft.com/office/drawing/2014/main" id="{1EC14BCB-01E1-4C0D-A1CC-44F341E5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29EB0A53-A992-4DD4-89FC-1CD44FE7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SOLUTION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976B739F-9263-475D-B7AD-DB4F2DB7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LearnPulse 建立一個可學習、可回饋的續航閉環</a:t>
            </a:r>
          </a:p>
        </p:txBody>
      </p:sp>
      <p:sp>
        <p:nvSpPr>
          <p:cNvPr id="4" name="sub-4">
            <a:extLst xmlns:a="http://schemas.openxmlformats.org/drawingml/2006/main">
              <a:ext uri="{FF2B5EF4-FFF2-40B4-BE49-F238E27FC236}">
                <a16:creationId xmlns:a16="http://schemas.microsoft.com/office/drawing/2014/main" id="{1667A656-0215-43F7-8041-6AFAF42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從行為事件到個人化介入，每一步都留下可驗證的結果。</a:t>
            </a:r>
          </a:p>
        </p:txBody>
      </p:sp>
      <p:sp>
        <p:nvSpPr>
          <p:cNvPr id="5" name="core">
            <a:extLst xmlns:a="http://schemas.openxmlformats.org/drawingml/2006/main">
              <a:ext uri="{FF2B5EF4-FFF2-40B4-BE49-F238E27FC236}">
                <a16:creationId xmlns:a16="http://schemas.microsoft.com/office/drawing/2014/main" id="{AA877215-7FF3-4038-A50B-EB250482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2857500" cy="1600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re-brand">
            <a:extLst xmlns:a="http://schemas.openxmlformats.org/drawingml/2006/main">
              <a:ext uri="{FF2B5EF4-FFF2-40B4-BE49-F238E27FC236}">
                <a16:creationId xmlns:a16="http://schemas.microsoft.com/office/drawing/2014/main" id="{5EC18F23-B4BA-47A4-A0C0-C0ADD984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LearnPulse</a:t>
            </a:r>
          </a:p>
        </p:txBody>
      </p:sp>
      <p:sp>
        <p:nvSpPr>
          <p:cNvPr id="7" name="core-copy">
            <a:extLst xmlns:a="http://schemas.openxmlformats.org/drawingml/2006/main">
              <a:ext uri="{FF2B5EF4-FFF2-40B4-BE49-F238E27FC236}">
                <a16:creationId xmlns:a16="http://schemas.microsoft.com/office/drawing/2014/main" id="{4B41FC01-8C08-48DB-82E0-C7999BC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D63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D63D"/>
                </a:solidFill>
                <a:latin typeface="PingFang TC"/>
                <a:ea typeface="PingFang TC"/>
                <a:cs typeface="PingFang TC"/>
              </a:rPr>
              <a:t>在對的時機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D63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D63D"/>
                </a:solidFill>
                <a:latin typeface="PingFang TC"/>
                <a:ea typeface="PingFang TC"/>
                <a:cs typeface="PingFang TC"/>
              </a:rPr>
              <a:t>給對的下一步</a:t>
            </a:r>
          </a:p>
        </p:txBody>
      </p:sp>
      <p:sp>
        <p:nvSpPr>
          <p:cNvPr id="8" name="loop-0">
            <a:extLst xmlns:a="http://schemas.openxmlformats.org/drawingml/2006/main">
              <a:ext uri="{FF2B5EF4-FFF2-40B4-BE49-F238E27FC236}">
                <a16:creationId xmlns:a16="http://schemas.microsoft.com/office/drawing/2014/main" id="{820166E0-85DA-449E-8593-691102D6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4765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E5EAFF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9" name="loop-1">
            <a:extLst xmlns:a="http://schemas.openxmlformats.org/drawingml/2006/main">
              <a:ext uri="{FF2B5EF4-FFF2-40B4-BE49-F238E27FC236}">
                <a16:creationId xmlns:a16="http://schemas.microsoft.com/office/drawing/2014/main" id="{E170E6C3-5BB3-4AEF-869E-386A957E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33600"/>
            <a:ext cx="24765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E4DD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10" name="loop-2">
            <a:extLst xmlns:a="http://schemas.openxmlformats.org/drawingml/2006/main">
              <a:ext uri="{FF2B5EF4-FFF2-40B4-BE49-F238E27FC236}">
                <a16:creationId xmlns:a16="http://schemas.microsoft.com/office/drawing/2014/main" id="{D04B86E9-D542-4BEF-9D56-B77C7AE8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24765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2AE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11" name="loop-3">
            <a:extLst xmlns:a="http://schemas.openxmlformats.org/drawingml/2006/main">
              <a:ext uri="{FF2B5EF4-FFF2-40B4-BE49-F238E27FC236}">
                <a16:creationId xmlns:a16="http://schemas.microsoft.com/office/drawing/2014/main" id="{EDE19943-698B-488D-BA4E-47D3EF58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24765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DDF0E8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81350" y="2667000"/>
            <a:ext cx="14859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78F2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524750" y="2667000"/>
            <a:ext cx="14859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6E55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248900" y="3200400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6E55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181350" y="4800600"/>
            <a:ext cx="5829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806C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1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1943100" y="3200400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806C"/>
            </a:solidFill>
            <a:prstDash val="solid"/>
            <a:tailEnd type="arrow" w="sm" len="sm"/>
          </a:ln>
        </p:spPr>
      </p:cxnSp>
      <p:sp>
        <p:nvSpPr>
          <p:cNvPr id="17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C724C9D6-984C-4168-979F-9554EC62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1  感知</a:t>
            </a:r>
          </a:p>
        </p:txBody>
      </p:sp>
      <p:sp>
        <p:nvSpPr>
          <p:cNvPr id="18" name="loop-desc-0">
            <a:extLst xmlns:a="http://schemas.openxmlformats.org/drawingml/2006/main">
              <a:ext uri="{FF2B5EF4-FFF2-40B4-BE49-F238E27FC236}">
                <a16:creationId xmlns:a16="http://schemas.microsoft.com/office/drawing/2014/main" id="{7685A34C-E016-410B-B5B7-B8727F69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觀看行為＋AI 對話</a:t>
            </a:r>
          </a:p>
        </p:txBody>
      </p:sp>
      <p:sp>
        <p:nvSpPr>
          <p:cNvPr id="19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E46C4FE2-10CD-4DA4-BF9D-63D83022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241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2  推估</a:t>
            </a:r>
          </a:p>
        </p:txBody>
      </p:sp>
      <p:sp>
        <p:nvSpPr>
          <p:cNvPr id="20" name="loop-desc-1">
            <a:extLst xmlns:a="http://schemas.openxmlformats.org/drawingml/2006/main">
              <a:ext uri="{FF2B5EF4-FFF2-40B4-BE49-F238E27FC236}">
                <a16:creationId xmlns:a16="http://schemas.microsoft.com/office/drawing/2014/main" id="{175C35B9-D45E-456C-B4AD-969F751E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多訊號 learner state</a:t>
            </a:r>
          </a:p>
        </p:txBody>
      </p:sp>
      <p:sp>
        <p:nvSpPr>
          <p:cNvPr id="21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F99E8553-616C-43DD-B8B3-7F8B43D5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577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3  介入</a:t>
            </a:r>
          </a:p>
        </p:txBody>
      </p:sp>
      <p:sp>
        <p:nvSpPr>
          <p:cNvPr id="22" name="loop-desc-2">
            <a:extLst xmlns:a="http://schemas.openxmlformats.org/drawingml/2006/main">
              <a:ext uri="{FF2B5EF4-FFF2-40B4-BE49-F238E27FC236}">
                <a16:creationId xmlns:a16="http://schemas.microsoft.com/office/drawing/2014/main" id="{434F70DE-469E-4A1B-9CD8-D44004B7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577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站內解卡／調整難度</a:t>
            </a:r>
          </a:p>
        </p:txBody>
      </p:sp>
      <p:sp>
        <p:nvSpPr>
          <p:cNvPr id="23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2C4EB522-1837-4231-ADDB-DCC8673F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4  續航</a:t>
            </a:r>
          </a:p>
        </p:txBody>
      </p:sp>
      <p:sp>
        <p:nvSpPr>
          <p:cNvPr id="24" name="loop-desc-3">
            <a:extLst xmlns:a="http://schemas.openxmlformats.org/drawingml/2006/main">
              <a:ext uri="{FF2B5EF4-FFF2-40B4-BE49-F238E27FC236}">
                <a16:creationId xmlns:a16="http://schemas.microsoft.com/office/drawing/2014/main" id="{94B7446E-B5D8-40F4-9121-2A0979DD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站外召回＋下一步推薦</a:t>
            </a:r>
          </a:p>
        </p:txBody>
      </p:sp>
      <p:sp>
        <p:nvSpPr>
          <p:cNvPr id="25" name="pill-站內：秒級">
            <a:extLst xmlns:a="http://schemas.openxmlformats.org/drawingml/2006/main">
              <a:ext uri="{FF2B5EF4-FFF2-40B4-BE49-F238E27FC236}">
                <a16:creationId xmlns:a16="http://schemas.microsoft.com/office/drawing/2014/main" id="{01572442-9619-48E2-9739-FEDA447C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101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lltxt-站內：秒級">
            <a:extLst xmlns:a="http://schemas.openxmlformats.org/drawingml/2006/main">
              <a:ext uri="{FF2B5EF4-FFF2-40B4-BE49-F238E27FC236}">
                <a16:creationId xmlns:a16="http://schemas.microsoft.com/office/drawing/2014/main" id="{6481C328-E45B-4901-A491-27DB85FB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101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站內：秒級</a:t>
            </a:r>
          </a:p>
        </p:txBody>
      </p:sp>
      <p:sp>
        <p:nvSpPr>
          <p:cNvPr id="27" name="pill-站外：事件驅動">
            <a:extLst xmlns:a="http://schemas.openxmlformats.org/drawingml/2006/main">
              <a:ext uri="{FF2B5EF4-FFF2-40B4-BE49-F238E27FC236}">
                <a16:creationId xmlns:a16="http://schemas.microsoft.com/office/drawing/2014/main" id="{9BE27D95-97DF-4278-9708-714E8715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1010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illtxt-站外：事件驅動">
            <a:extLst xmlns:a="http://schemas.openxmlformats.org/drawingml/2006/main">
              <a:ext uri="{FF2B5EF4-FFF2-40B4-BE49-F238E27FC236}">
                <a16:creationId xmlns:a16="http://schemas.microsoft.com/office/drawing/2014/main" id="{100663FA-947C-4BF3-BD4E-3582D348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101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站外：事件驅動</a:t>
            </a:r>
          </a:p>
        </p:txBody>
      </p:sp>
      <p:sp>
        <p:nvSpPr>
          <p:cNvPr id="29" name="loop-bottom">
            <a:extLst xmlns:a="http://schemas.openxmlformats.org/drawingml/2006/main">
              <a:ext uri="{FF2B5EF4-FFF2-40B4-BE49-F238E27FC236}">
                <a16:creationId xmlns:a16="http://schemas.microsoft.com/office/drawing/2014/main" id="{61E38E9E-C0EF-4899-B4CF-59530160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810250"/>
            <a:ext cx="594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介入結果 → 恢復觀看／完課／回站 → 回寫資料 → 持續優化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AE745CD6-87BC-4995-80DE-9496EF9F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rPr>
              <a:t>核心差異：不是新增聊天機器人，而是把 AI 嵌入完整學習旅程</a:t>
            </a:r>
          </a:p>
        </p:txBody>
      </p:sp>
    </p:spTree>
    <p:extLst>
      <p:ext uri="{BB962C8B-B14F-4D97-AF65-F5344CB8AC3E}">
        <p14:creationId xmlns:p14="http://schemas.microsoft.com/office/powerpoint/2010/main" val="1204021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-5">
            <a:extLst xmlns:a="http://schemas.openxmlformats.org/drawingml/2006/main">
              <a:ext uri="{FF2B5EF4-FFF2-40B4-BE49-F238E27FC236}">
                <a16:creationId xmlns:a16="http://schemas.microsoft.com/office/drawing/2014/main" id="{B1255C5C-AA53-4A6C-8D2B-9EABAE4D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9B3C940B-2C76-4819-80F8-AF19F36D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DETECTION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0378880C-E4C6-43AE-A05F-D7EE559E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不用攝影機，也能從學習軌跡辨識「需要幫助」</a:t>
            </a:r>
          </a:p>
        </p:txBody>
      </p:sp>
      <p:sp>
        <p:nvSpPr>
          <p:cNvPr id="4" name="sub-5">
            <a:extLst xmlns:a="http://schemas.openxmlformats.org/drawingml/2006/main">
              <a:ext uri="{FF2B5EF4-FFF2-40B4-BE49-F238E27FC236}">
                <a16:creationId xmlns:a16="http://schemas.microsoft.com/office/drawing/2014/main" id="{B8C54782-601A-469B-9CE4-0A79B2F6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以至少兩種訊號交叉驗證；介面只給中性建議，不宣稱心理診斷。</a:t>
            </a:r>
          </a:p>
        </p:txBody>
      </p:sp>
      <p:sp>
        <p:nvSpPr>
          <p:cNvPr id="5" name="siglabel">
            <a:extLst xmlns:a="http://schemas.openxmlformats.org/drawingml/2006/main">
              <a:ext uri="{FF2B5EF4-FFF2-40B4-BE49-F238E27FC236}">
                <a16:creationId xmlns:a16="http://schemas.microsoft.com/office/drawing/2014/main" id="{CF8DD551-7A32-4640-9397-1F6582FA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OBSERVE</a:t>
            </a:r>
          </a:p>
        </p:txBody>
      </p:sp>
      <p:sp>
        <p:nvSpPr>
          <p:cNvPr id="6" name="sig-0">
            <a:extLst xmlns:a="http://schemas.openxmlformats.org/drawingml/2006/main">
              <a:ext uri="{FF2B5EF4-FFF2-40B4-BE49-F238E27FC236}">
                <a16:creationId xmlns:a16="http://schemas.microsoft.com/office/drawing/2014/main" id="{172B2054-89B0-417C-B016-812EFAD4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2573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5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igt-0">
            <a:extLst xmlns:a="http://schemas.openxmlformats.org/drawingml/2006/main">
              <a:ext uri="{FF2B5EF4-FFF2-40B4-BE49-F238E27FC236}">
                <a16:creationId xmlns:a16="http://schemas.microsoft.com/office/drawing/2014/main" id="{8AC4F69D-FCC9-4D8E-BA86-4BE7357D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重播 ×2</a:t>
            </a:r>
          </a:p>
        </p:txBody>
      </p:sp>
      <p:sp>
        <p:nvSpPr>
          <p:cNvPr id="8" name="sig-1">
            <a:extLst xmlns:a="http://schemas.openxmlformats.org/drawingml/2006/main">
              <a:ext uri="{FF2B5EF4-FFF2-40B4-BE49-F238E27FC236}">
                <a16:creationId xmlns:a16="http://schemas.microsoft.com/office/drawing/2014/main" id="{DF79E5FC-09D3-420B-8F02-BAF1C284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19350"/>
            <a:ext cx="12573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5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igt-1">
            <a:extLst xmlns:a="http://schemas.openxmlformats.org/drawingml/2006/main">
              <a:ext uri="{FF2B5EF4-FFF2-40B4-BE49-F238E27FC236}">
                <a16:creationId xmlns:a16="http://schemas.microsoft.com/office/drawing/2014/main" id="{4D3AF86C-CE47-4525-B1C9-B9F3F00F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193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後退 ×2</a:t>
            </a:r>
          </a:p>
        </p:txBody>
      </p:sp>
      <p:sp>
        <p:nvSpPr>
          <p:cNvPr id="10" name="sig-2">
            <a:extLst xmlns:a="http://schemas.openxmlformats.org/drawingml/2006/main">
              <a:ext uri="{FF2B5EF4-FFF2-40B4-BE49-F238E27FC236}">
                <a16:creationId xmlns:a16="http://schemas.microsoft.com/office/drawing/2014/main" id="{6196418D-833E-46CD-BF18-DE08D1E0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12573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5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igt-2">
            <a:extLst xmlns:a="http://schemas.openxmlformats.org/drawingml/2006/main">
              <a:ext uri="{FF2B5EF4-FFF2-40B4-BE49-F238E27FC236}">
                <a16:creationId xmlns:a16="http://schemas.microsoft.com/office/drawing/2014/main" id="{3991F66C-1032-4057-8BA7-08118DC8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相似提問</a:t>
            </a:r>
          </a:p>
        </p:txBody>
      </p:sp>
      <p:sp>
        <p:nvSpPr>
          <p:cNvPr id="12" name="sig-3">
            <a:extLst xmlns:a="http://schemas.openxmlformats.org/drawingml/2006/main">
              <a:ext uri="{FF2B5EF4-FFF2-40B4-BE49-F238E27FC236}">
                <a16:creationId xmlns:a16="http://schemas.microsoft.com/office/drawing/2014/main" id="{AEE70DCB-F400-4CB8-96EF-C5567D83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12573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C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igt-3">
            <a:extLst xmlns:a="http://schemas.openxmlformats.org/drawingml/2006/main">
              <a:ext uri="{FF2B5EF4-FFF2-40B4-BE49-F238E27FC236}">
                <a16:creationId xmlns:a16="http://schemas.microsoft.com/office/drawing/2014/main" id="{80432D90-8C95-49FC-85AF-8252A3A6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短停留</a:t>
            </a:r>
          </a:p>
        </p:txBody>
      </p:sp>
      <p:sp>
        <p:nvSpPr>
          <p:cNvPr id="14" name="sig-4">
            <a:extLst xmlns:a="http://schemas.openxmlformats.org/drawingml/2006/main">
              <a:ext uri="{FF2B5EF4-FFF2-40B4-BE49-F238E27FC236}">
                <a16:creationId xmlns:a16="http://schemas.microsoft.com/office/drawing/2014/main" id="{DACCF3A5-2D89-4257-87F3-5E7C6AB5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86100"/>
            <a:ext cx="12573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C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igt-4">
            <a:extLst xmlns:a="http://schemas.openxmlformats.org/drawingml/2006/main">
              <a:ext uri="{FF2B5EF4-FFF2-40B4-BE49-F238E27FC236}">
                <a16:creationId xmlns:a16="http://schemas.microsoft.com/office/drawing/2014/main" id="{06010C75-8FB3-4C95-8281-DC303C6D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861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前跳 ×3</a:t>
            </a:r>
          </a:p>
        </p:txBody>
      </p:sp>
      <p:sp>
        <p:nvSpPr>
          <p:cNvPr id="16" name="sig-5">
            <a:extLst xmlns:a="http://schemas.openxmlformats.org/drawingml/2006/main">
              <a:ext uri="{FF2B5EF4-FFF2-40B4-BE49-F238E27FC236}">
                <a16:creationId xmlns:a16="http://schemas.microsoft.com/office/drawing/2014/main" id="{C6A0AF53-E4F9-4974-9A3D-01DFC66D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12573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C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igt-5">
            <a:extLst xmlns:a="http://schemas.openxmlformats.org/drawingml/2006/main">
              <a:ext uri="{FF2B5EF4-FFF2-40B4-BE49-F238E27FC236}">
                <a16:creationId xmlns:a16="http://schemas.microsoft.com/office/drawing/2014/main" id="{467DF737-77B8-4896-881C-BD49101E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測驗未解</a:t>
            </a:r>
          </a:p>
        </p:txBody>
      </p:sp>
      <p:sp>
        <p:nvSpPr>
          <p:cNvPr id="18" name="signal-anchor">
            <a:extLst xmlns:a="http://schemas.openxmlformats.org/drawingml/2006/main">
              <a:ext uri="{FF2B5EF4-FFF2-40B4-BE49-F238E27FC236}">
                <a16:creationId xmlns:a16="http://schemas.microsoft.com/office/drawing/2014/main" id="{405EEB7D-06B3-4C4D-B990-0D3DF63D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76550"/>
            <a:ext cx="95250" cy="95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state-anchor">
            <a:extLst xmlns:a="http://schemas.openxmlformats.org/drawingml/2006/main">
              <a:ext uri="{FF2B5EF4-FFF2-40B4-BE49-F238E27FC236}">
                <a16:creationId xmlns:a16="http://schemas.microsoft.com/office/drawing/2014/main" id="{5102EB7A-7C48-4712-B588-D4C3994F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76550"/>
            <a:ext cx="95250" cy="95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991100" y="29241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1616"/>
            </a:solidFill>
            <a:prstDash val="solid"/>
            <a:tailEnd type="arrow" w="sm" len="sm"/>
          </a:ln>
        </p:spPr>
      </p:cxnSp>
      <p:sp>
        <p:nvSpPr>
          <p:cNvPr id="21" name="inferlabel">
            <a:extLst xmlns:a="http://schemas.openxmlformats.org/drawingml/2006/main">
              <a:ext uri="{FF2B5EF4-FFF2-40B4-BE49-F238E27FC236}">
                <a16:creationId xmlns:a16="http://schemas.microsoft.com/office/drawing/2014/main" id="{7970898B-0D4A-4166-8E2D-5ACCAB36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06E5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06E55"/>
                </a:solidFill>
                <a:latin typeface="PingFang TC"/>
                <a:ea typeface="PingFang TC"/>
                <a:cs typeface="PingFang TC"/>
              </a:rPr>
              <a:t>INFER</a:t>
            </a:r>
          </a:p>
        </p:txBody>
      </p:sp>
      <p:sp>
        <p:nvSpPr>
          <p:cNvPr id="22" name="state-box">
            <a:extLst xmlns:a="http://schemas.openxmlformats.org/drawingml/2006/main">
              <a:ext uri="{FF2B5EF4-FFF2-40B4-BE49-F238E27FC236}">
                <a16:creationId xmlns:a16="http://schemas.microsoft.com/office/drawing/2014/main" id="{87B6F7C0-CB28-4207-A1DA-83E34A12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4003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5F3CA-BCAA-4999-A517-8B8BAD76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ate-0">
            <a:extLst xmlns:a="http://schemas.openxmlformats.org/drawingml/2006/main">
              <a:ext uri="{FF2B5EF4-FFF2-40B4-BE49-F238E27FC236}">
                <a16:creationId xmlns:a16="http://schemas.microsoft.com/office/drawing/2014/main" id="{5FD4CB4F-D532-43BF-9172-5C02ED99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confusion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92765-863C-4A1C-B7B3-1761C039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81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te-1">
            <a:extLst xmlns:a="http://schemas.openxmlformats.org/drawingml/2006/main">
              <a:ext uri="{FF2B5EF4-FFF2-40B4-BE49-F238E27FC236}">
                <a16:creationId xmlns:a16="http://schemas.microsoft.com/office/drawing/2014/main" id="{66DC4934-B1CF-4C09-AA1D-CD676DFB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frustration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A7D4B-1C06-47A9-BF32-3ABAE1FF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te-2">
            <a:extLst xmlns:a="http://schemas.openxmlformats.org/drawingml/2006/main">
              <a:ext uri="{FF2B5EF4-FFF2-40B4-BE49-F238E27FC236}">
                <a16:creationId xmlns:a16="http://schemas.microsoft.com/office/drawing/2014/main" id="{7AC4A7D5-6023-429D-91B3-5005745A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low engagement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038571-43F7-41D3-A557-9FC67807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86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ate-3">
            <a:extLst xmlns:a="http://schemas.openxmlformats.org/drawingml/2006/main">
              <a:ext uri="{FF2B5EF4-FFF2-40B4-BE49-F238E27FC236}">
                <a16:creationId xmlns:a16="http://schemas.microsoft.com/office/drawing/2014/main" id="{2224D455-BF1C-4DC9-B212-6973371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290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flow / neutral</a:t>
            </a:r>
          </a:p>
        </p:txBody>
      </p:sp>
      <p:sp>
        <p:nvSpPr>
          <p:cNvPr id="31" name="state-anchor2">
            <a:extLst xmlns:a="http://schemas.openxmlformats.org/drawingml/2006/main">
              <a:ext uri="{FF2B5EF4-FFF2-40B4-BE49-F238E27FC236}">
                <a16:creationId xmlns:a16="http://schemas.microsoft.com/office/drawing/2014/main" id="{F3761ADC-F4D2-47B8-906C-E8FCA43D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95250" cy="95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action-anchor">
            <a:extLst xmlns:a="http://schemas.openxmlformats.org/drawingml/2006/main">
              <a:ext uri="{FF2B5EF4-FFF2-40B4-BE49-F238E27FC236}">
                <a16:creationId xmlns:a16="http://schemas.microsoft.com/office/drawing/2014/main" id="{B964F5F2-3FDA-495D-B566-8324565C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76550"/>
            <a:ext cx="95250" cy="95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515350" y="29241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1616"/>
            </a:solidFill>
            <a:prstDash val="solid"/>
            <a:tailEnd type="arrow" w="sm" len="sm"/>
          </a:ln>
        </p:spPr>
      </p:cxnSp>
      <p:sp>
        <p:nvSpPr>
          <p:cNvPr id="34" name="actlabel">
            <a:extLst xmlns:a="http://schemas.openxmlformats.org/drawingml/2006/main">
              <a:ext uri="{FF2B5EF4-FFF2-40B4-BE49-F238E27FC236}">
                <a16:creationId xmlns:a16="http://schemas.microsoft.com/office/drawing/2014/main" id="{F670F06A-B518-4AF7-836B-E335D7E8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5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RESPOND</a:t>
            </a:r>
          </a:p>
        </p:txBody>
      </p:sp>
      <p:sp>
        <p:nvSpPr>
          <p:cNvPr id="35" name="act-0">
            <a:extLst xmlns:a="http://schemas.openxmlformats.org/drawingml/2006/main">
              <a:ext uri="{FF2B5EF4-FFF2-40B4-BE49-F238E27FC236}">
                <a16:creationId xmlns:a16="http://schemas.microsoft.com/office/drawing/2014/main" id="{D6716F4C-BB5E-4F4E-80AF-3ED708ED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205740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36" name="actt-0">
            <a:extLst xmlns:a="http://schemas.openxmlformats.org/drawingml/2006/main">
              <a:ext uri="{FF2B5EF4-FFF2-40B4-BE49-F238E27FC236}">
                <a16:creationId xmlns:a16="http://schemas.microsoft.com/office/drawing/2014/main" id="{4EAE49DD-5E56-47AC-BDDC-AD37507A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換個案例</a:t>
            </a:r>
          </a:p>
        </p:txBody>
      </p:sp>
      <p:sp>
        <p:nvSpPr>
          <p:cNvPr id="37" name="act-1">
            <a:extLst xmlns:a="http://schemas.openxmlformats.org/drawingml/2006/main">
              <a:ext uri="{FF2B5EF4-FFF2-40B4-BE49-F238E27FC236}">
                <a16:creationId xmlns:a16="http://schemas.microsoft.com/office/drawing/2014/main" id="{D0FB2AF3-C16F-402F-934D-BFA124CE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05125"/>
            <a:ext cx="205740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F7F5EE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38" name="actt-1">
            <a:extLst xmlns:a="http://schemas.openxmlformats.org/drawingml/2006/main">
              <a:ext uri="{FF2B5EF4-FFF2-40B4-BE49-F238E27FC236}">
                <a16:creationId xmlns:a16="http://schemas.microsoft.com/office/drawing/2014/main" id="{D04459C6-E372-4782-A00D-5BB1539F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051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拆成步驟</a:t>
            </a:r>
          </a:p>
        </p:txBody>
      </p:sp>
      <p:sp>
        <p:nvSpPr>
          <p:cNvPr id="39" name="act-2">
            <a:extLst xmlns:a="http://schemas.openxmlformats.org/drawingml/2006/main">
              <a:ext uri="{FF2B5EF4-FFF2-40B4-BE49-F238E27FC236}">
                <a16:creationId xmlns:a16="http://schemas.microsoft.com/office/drawing/2014/main" id="{3CF896D7-9353-47C6-928F-DFFAA7FE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205740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F7F5EE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40" name="actt-2">
            <a:extLst xmlns:a="http://schemas.openxmlformats.org/drawingml/2006/main">
              <a:ext uri="{FF2B5EF4-FFF2-40B4-BE49-F238E27FC236}">
                <a16:creationId xmlns:a16="http://schemas.microsoft.com/office/drawing/2014/main" id="{E9E0BC35-BABD-4567-B2F8-3E23644D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進階挑戰</a:t>
            </a:r>
          </a:p>
        </p:txBody>
      </p:sp>
      <p:sp>
        <p:nvSpPr>
          <p:cNvPr id="41" name="act-3">
            <a:extLst xmlns:a="http://schemas.openxmlformats.org/drawingml/2006/main">
              <a:ext uri="{FF2B5EF4-FFF2-40B4-BE49-F238E27FC236}">
                <a16:creationId xmlns:a16="http://schemas.microsoft.com/office/drawing/2014/main" id="{17AFD599-7525-43F1-A040-18E7A8B3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52875"/>
            <a:ext cx="2057400" cy="40005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F7F5EE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42" name="actt-3">
            <a:extLst xmlns:a="http://schemas.openxmlformats.org/drawingml/2006/main">
              <a:ext uri="{FF2B5EF4-FFF2-40B4-BE49-F238E27FC236}">
                <a16:creationId xmlns:a16="http://schemas.microsoft.com/office/drawing/2014/main" id="{B0466AFC-F039-417A-BEB9-321399FE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528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不打擾</a:t>
            </a:r>
          </a:p>
        </p:txBody>
      </p:sp>
      <p:sp>
        <p:nvSpPr>
          <p:cNvPr id="43" name="rule">
            <a:extLst xmlns:a="http://schemas.openxmlformats.org/drawingml/2006/main">
              <a:ext uri="{FF2B5EF4-FFF2-40B4-BE49-F238E27FC236}">
                <a16:creationId xmlns:a16="http://schemas.microsoft.com/office/drawing/2014/main" id="{1BAA14BC-4EAC-4F79-97CB-133A918D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09347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DD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ule-title">
            <a:extLst xmlns:a="http://schemas.openxmlformats.org/drawingml/2006/main">
              <a:ext uri="{FF2B5EF4-FFF2-40B4-BE49-F238E27FC236}">
                <a16:creationId xmlns:a16="http://schemas.microsoft.com/office/drawing/2014/main" id="{582D204C-7CE6-4341-B8C0-34EC2660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可解釋的 Demo Baseline</a:t>
            </a:r>
          </a:p>
        </p:txBody>
      </p:sp>
      <p:sp>
        <p:nvSpPr>
          <p:cNvPr id="45" name="rule-copy">
            <a:extLst xmlns:a="http://schemas.openxmlformats.org/drawingml/2006/main">
              <a:ext uri="{FF2B5EF4-FFF2-40B4-BE49-F238E27FC236}">
                <a16:creationId xmlns:a16="http://schemas.microsoft.com/office/drawing/2014/main" id="{448E4897-4227-4F83-8523-46E60E26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重播 ≥ 2  ＋  提問 ≥ 1 或後退 ≥ 2  →  confusion  →  simplified example</a:t>
            </a:r>
          </a:p>
        </p:txBody>
      </p:sp>
      <p:sp>
        <p:nvSpPr>
          <p:cNvPr id="46" name="rule-note">
            <a:extLst xmlns:a="http://schemas.openxmlformats.org/drawingml/2006/main">
              <a:ext uri="{FF2B5EF4-FFF2-40B4-BE49-F238E27FC236}">
                <a16:creationId xmlns:a16="http://schemas.microsoft.com/office/drawing/2014/main" id="{7DD05E73-A8E4-4EC1-B302-BDD8E70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正式上線：以匿名事件建立標籤、離線驗證、A/B 測試，再逐步替換成機器學習模型。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BE7E448E-EFCB-44FC-A3DA-8BF1CB2F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rPr>
              <a:t>研究依據：D’Mello et al. (2008)；專案實作：Rule-based Demo Inference，confidence 僅為示意</a:t>
            </a:r>
          </a:p>
        </p:txBody>
      </p:sp>
    </p:spTree>
    <p:extLst>
      <p:ext uri="{BB962C8B-B14F-4D97-AF65-F5344CB8AC3E}">
        <p14:creationId xmlns:p14="http://schemas.microsoft.com/office/powerpoint/2010/main" val="1752976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-6">
            <a:extLst xmlns:a="http://schemas.openxmlformats.org/drawingml/2006/main">
              <a:ext uri="{FF2B5EF4-FFF2-40B4-BE49-F238E27FC236}">
                <a16:creationId xmlns:a16="http://schemas.microsoft.com/office/drawing/2014/main" id="{5A131583-1B87-4E68-A411-E9BC6FE7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CF915C5F-B1EB-47F9-AAEA-FD08DAFE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IN-SITE INTERVENTION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B21C3F13-FE8D-4F7B-99E5-08C8833D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介入不是彈窗打斷，而是最短路徑回到學習</a:t>
            </a:r>
          </a:p>
        </p:txBody>
      </p:sp>
      <p:sp>
        <p:nvSpPr>
          <p:cNvPr id="4" name="sub-6">
            <a:extLst xmlns:a="http://schemas.openxmlformats.org/drawingml/2006/main">
              <a:ext uri="{FF2B5EF4-FFF2-40B4-BE49-F238E27FC236}">
                <a16:creationId xmlns:a16="http://schemas.microsoft.com/office/drawing/2014/main" id="{66CBD4FE-F405-4ADB-B03F-7870763E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使用者可接受、略過或延後；每次選擇都回寫為下一次介入的訊號。</a:t>
            </a:r>
          </a:p>
        </p:txBody>
      </p:sp>
      <p:sp>
        <p:nvSpPr>
          <p:cNvPr id="5" name="browser">
            <a:extLst xmlns:a="http://schemas.openxmlformats.org/drawingml/2006/main">
              <a:ext uri="{FF2B5EF4-FFF2-40B4-BE49-F238E27FC236}">
                <a16:creationId xmlns:a16="http://schemas.microsoft.com/office/drawing/2014/main" id="{D620A65A-4AB0-4D7B-BD03-5D4E9C72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browser-top">
            <a:extLst xmlns:a="http://schemas.openxmlformats.org/drawingml/2006/main">
              <a:ext uri="{FF2B5EF4-FFF2-40B4-BE49-F238E27FC236}">
                <a16:creationId xmlns:a16="http://schemas.microsoft.com/office/drawing/2014/main" id="{0B407864-C0BE-4D8E-AD63-145436C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54A18-1F30-4591-B34A-DA497151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7F42A-2E24-452C-A968-32907986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679E2-5398-4D32-878D-893B7B1B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url">
            <a:extLst xmlns:a="http://schemas.openxmlformats.org/drawingml/2006/main">
              <a:ext uri="{FF2B5EF4-FFF2-40B4-BE49-F238E27FC236}">
                <a16:creationId xmlns:a16="http://schemas.microsoft.com/office/drawing/2014/main" id="{3DF53B6A-1E2E-4E19-8283-BBA391BE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574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AFAFA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FAFA9"/>
                </a:solidFill>
                <a:latin typeface="PingFang TC"/>
                <a:ea typeface="PingFang TC"/>
                <a:cs typeface="PingFang TC"/>
              </a:rPr>
              <a:t>pressplay.cc / learn / chapter-02</a:t>
            </a:r>
          </a:p>
        </p:txBody>
      </p:sp>
      <p:sp>
        <p:nvSpPr>
          <p:cNvPr id="11" name="video">
            <a:extLst xmlns:a="http://schemas.openxmlformats.org/drawingml/2006/main">
              <a:ext uri="{FF2B5EF4-FFF2-40B4-BE49-F238E27FC236}">
                <a16:creationId xmlns:a16="http://schemas.microsoft.com/office/drawing/2014/main" id="{A832D9C3-9B17-44BA-8779-A74DAF26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34365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22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deo-tag">
            <a:extLst xmlns:a="http://schemas.openxmlformats.org/drawingml/2006/main">
              <a:ext uri="{FF2B5EF4-FFF2-40B4-BE49-F238E27FC236}">
                <a16:creationId xmlns:a16="http://schemas.microsoft.com/office/drawing/2014/main" id="{1F9D5EB4-56EE-4B82-8EBF-E096317C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D63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D63D"/>
                </a:solidFill>
                <a:latin typeface="PingFang TC"/>
                <a:ea typeface="PingFang TC"/>
                <a:cs typeface="PingFang TC"/>
              </a:rPr>
              <a:t>Mock Video Player</a:t>
            </a:r>
          </a:p>
        </p:txBody>
      </p:sp>
      <p:sp>
        <p:nvSpPr>
          <p:cNvPr id="13" name="video-copy">
            <a:extLst xmlns:a="http://schemas.openxmlformats.org/drawingml/2006/main">
              <a:ext uri="{FF2B5EF4-FFF2-40B4-BE49-F238E27FC236}">
                <a16:creationId xmlns:a16="http://schemas.microsoft.com/office/drawing/2014/main" id="{D991B5C7-E4F5-4D2A-BA7A-8819E71C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用 JOIN 串起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兩張資料表</a:t>
            </a:r>
          </a:p>
        </p:txBody>
      </p:sp>
      <p:sp>
        <p:nvSpPr>
          <p:cNvPr id="14" name="progress-bg">
            <a:extLst xmlns:a="http://schemas.openxmlformats.org/drawingml/2006/main">
              <a:ext uri="{FF2B5EF4-FFF2-40B4-BE49-F238E27FC236}">
                <a16:creationId xmlns:a16="http://schemas.microsoft.com/office/drawing/2014/main" id="{7EAC3034-E45E-4D25-AA17-9B7FEF72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gress">
            <a:extLst xmlns:a="http://schemas.openxmlformats.org/drawingml/2006/main">
              <a:ext uri="{FF2B5EF4-FFF2-40B4-BE49-F238E27FC236}">
                <a16:creationId xmlns:a16="http://schemas.microsoft.com/office/drawing/2014/main" id="{21D386B8-9F7F-44FE-8F50-052333D9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781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459EE-6D4F-43C3-8A5D-3809A375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76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ill-▶">
            <a:extLst xmlns:a="http://schemas.openxmlformats.org/drawingml/2006/main">
              <a:ext uri="{FF2B5EF4-FFF2-40B4-BE49-F238E27FC236}">
                <a16:creationId xmlns:a16="http://schemas.microsoft.com/office/drawing/2014/main" id="{3E4D5961-1B34-4B03-B236-15B64A64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illtxt-▶">
            <a:extLst xmlns:a="http://schemas.openxmlformats.org/drawingml/2006/main">
              <a:ext uri="{FF2B5EF4-FFF2-40B4-BE49-F238E27FC236}">
                <a16:creationId xmlns:a16="http://schemas.microsoft.com/office/drawing/2014/main" id="{03B380C2-D731-4D70-AEF1-7832EDCC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19" name="time">
            <a:extLst xmlns:a="http://schemas.openxmlformats.org/drawingml/2006/main">
              <a:ext uri="{FF2B5EF4-FFF2-40B4-BE49-F238E27FC236}">
                <a16:creationId xmlns:a16="http://schemas.microsoft.com/office/drawing/2014/main" id="{D425503F-C5C9-4053-9226-4069858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96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04:12 / 12:00</a:t>
            </a:r>
          </a:p>
        </p:txBody>
      </p:sp>
      <p:sp>
        <p:nvSpPr>
          <p:cNvPr id="20" name="intervene-label">
            <a:extLst xmlns:a="http://schemas.openxmlformats.org/drawingml/2006/main">
              <a:ext uri="{FF2B5EF4-FFF2-40B4-BE49-F238E27FC236}">
                <a16:creationId xmlns:a16="http://schemas.microsoft.com/office/drawing/2014/main" id="{C89A37C4-AEDA-4447-9A3C-5B4496B3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47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RULE-BASED DEMO INFERENCE</a:t>
            </a:r>
          </a:p>
        </p:txBody>
      </p:sp>
      <p:sp>
        <p:nvSpPr>
          <p:cNvPr id="21" name="intervene-head">
            <a:extLst xmlns:a="http://schemas.openxmlformats.org/drawingml/2006/main">
              <a:ext uri="{FF2B5EF4-FFF2-40B4-BE49-F238E27FC236}">
                <a16:creationId xmlns:a16="http://schemas.microsoft.com/office/drawing/2014/main" id="{4F974439-B269-4F6E-9C01-4B3F6F91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71800"/>
            <a:ext cx="3790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這一段似乎重看了幾次，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需要我換個方式說明嗎？</a:t>
            </a:r>
          </a:p>
        </p:txBody>
      </p:sp>
      <p:sp>
        <p:nvSpPr>
          <p:cNvPr id="22" name="intervene-evidence">
            <a:extLst xmlns:a="http://schemas.openxmlformats.org/drawingml/2006/main">
              <a:ext uri="{FF2B5EF4-FFF2-40B4-BE49-F238E27FC236}">
                <a16:creationId xmlns:a16="http://schemas.microsoft.com/office/drawing/2014/main" id="{BB7C04B8-45E2-45D4-B816-03D16A3F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14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依據：重播片段 + 相似提問</a:t>
            </a:r>
          </a:p>
        </p:txBody>
      </p:sp>
      <p:sp>
        <p:nvSpPr>
          <p:cNvPr id="23" name="opt-0">
            <a:extLst xmlns:a="http://schemas.openxmlformats.org/drawingml/2006/main">
              <a:ext uri="{FF2B5EF4-FFF2-40B4-BE49-F238E27FC236}">
                <a16:creationId xmlns:a16="http://schemas.microsoft.com/office/drawing/2014/main" id="{BD9A3CCD-FFEA-44CE-9E85-4236A058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71950"/>
            <a:ext cx="17907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24" name="optt-0">
            <a:extLst xmlns:a="http://schemas.openxmlformats.org/drawingml/2006/main">
              <a:ext uri="{FF2B5EF4-FFF2-40B4-BE49-F238E27FC236}">
                <a16:creationId xmlns:a16="http://schemas.microsoft.com/office/drawing/2014/main" id="{DF6E5931-1F24-49F1-B5B5-5BB2BB8E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719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用生活案例說明</a:t>
            </a:r>
          </a:p>
        </p:txBody>
      </p:sp>
      <p:sp>
        <p:nvSpPr>
          <p:cNvPr id="25" name="opt-1">
            <a:extLst xmlns:a="http://schemas.openxmlformats.org/drawingml/2006/main">
              <a:ext uri="{FF2B5EF4-FFF2-40B4-BE49-F238E27FC236}">
                <a16:creationId xmlns:a16="http://schemas.microsoft.com/office/drawing/2014/main" id="{A6367216-3933-4EEF-9F5D-5098200E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7907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7F5EE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26" name="optt-1">
            <a:extLst xmlns:a="http://schemas.openxmlformats.org/drawingml/2006/main">
              <a:ext uri="{FF2B5EF4-FFF2-40B4-BE49-F238E27FC236}">
                <a16:creationId xmlns:a16="http://schemas.microsoft.com/office/drawing/2014/main" id="{8E989871-90D0-48C8-B6C2-B8A412B7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719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拆成三個步驟</a:t>
            </a:r>
          </a:p>
        </p:txBody>
      </p:sp>
      <p:sp>
        <p:nvSpPr>
          <p:cNvPr id="27" name="opt-2">
            <a:extLst xmlns:a="http://schemas.openxmlformats.org/drawingml/2006/main">
              <a:ext uri="{FF2B5EF4-FFF2-40B4-BE49-F238E27FC236}">
                <a16:creationId xmlns:a16="http://schemas.microsoft.com/office/drawing/2014/main" id="{0C783210-EE46-438F-A348-903D673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62500"/>
            <a:ext cx="17907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7F5EE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28" name="optt-2">
            <a:extLst xmlns:a="http://schemas.openxmlformats.org/drawingml/2006/main">
              <a:ext uri="{FF2B5EF4-FFF2-40B4-BE49-F238E27FC236}">
                <a16:creationId xmlns:a16="http://schemas.microsoft.com/office/drawing/2014/main" id="{E1F75EA0-C3AD-4993-83B4-E0AC78BF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6250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查看前置概念</a:t>
            </a:r>
          </a:p>
        </p:txBody>
      </p:sp>
      <p:sp>
        <p:nvSpPr>
          <p:cNvPr id="29" name="opt-3">
            <a:extLst xmlns:a="http://schemas.openxmlformats.org/drawingml/2006/main">
              <a:ext uri="{FF2B5EF4-FFF2-40B4-BE49-F238E27FC236}">
                <a16:creationId xmlns:a16="http://schemas.microsoft.com/office/drawing/2014/main" id="{A0768051-6CC5-4D11-8292-2C23CB14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62500"/>
            <a:ext cx="17907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7F5EE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30" name="optt-3">
            <a:extLst xmlns:a="http://schemas.openxmlformats.org/drawingml/2006/main">
              <a:ext uri="{FF2B5EF4-FFF2-40B4-BE49-F238E27FC236}">
                <a16:creationId xmlns:a16="http://schemas.microsoft.com/office/drawing/2014/main" id="{D6754E4E-D54C-440A-B4BA-71A1465F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6250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暫時不用</a:t>
            </a:r>
          </a:p>
        </p:txBody>
      </p:sp>
      <p:sp>
        <p:nvSpPr>
          <p:cNvPr id="31" name="result">
            <a:extLst xmlns:a="http://schemas.openxmlformats.org/drawingml/2006/main">
              <a:ext uri="{FF2B5EF4-FFF2-40B4-BE49-F238E27FC236}">
                <a16:creationId xmlns:a16="http://schemas.microsoft.com/office/drawing/2014/main" id="{960C8785-A3A2-4E0A-8254-01BC3810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788670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sult-copy">
            <a:extLst xmlns:a="http://schemas.openxmlformats.org/drawingml/2006/main">
              <a:ext uri="{FF2B5EF4-FFF2-40B4-BE49-F238E27FC236}">
                <a16:creationId xmlns:a16="http://schemas.microsoft.com/office/drawing/2014/main" id="{442DC1B2-B184-44BF-A3F7-37F21363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245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接受介入 → Demo AI Output → 繼續播放 → Recovery event</a:t>
            </a:r>
          </a:p>
        </p:txBody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1F4A28B1-279D-401F-993A-0153703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rPr>
              <a:t>已完成：困惑與低投入兩條分流、AI 助教、事件紀錄、Reset Demo</a:t>
            </a:r>
          </a:p>
        </p:txBody>
      </p:sp>
    </p:spTree>
    <p:extLst>
      <p:ext uri="{BB962C8B-B14F-4D97-AF65-F5344CB8AC3E}">
        <p14:creationId xmlns:p14="http://schemas.microsoft.com/office/powerpoint/2010/main" val="6580065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-7">
            <a:extLst xmlns:a="http://schemas.openxmlformats.org/drawingml/2006/main">
              <a:ext uri="{FF2B5EF4-FFF2-40B4-BE49-F238E27FC236}">
                <a16:creationId xmlns:a16="http://schemas.microsoft.com/office/drawing/2014/main" id="{6FDB0DAE-C7E4-4C43-8AD7-3D2BC45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FE46BEBB-6998-45BC-964B-A48A72B5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OFF-SITE RECALL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2216C8A7-83F8-43DD-B962-43B2DBB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離站後，不催促完課；只送一個可完成的下一步</a:t>
            </a:r>
          </a:p>
        </p:txBody>
      </p:sp>
      <p:sp>
        <p:nvSpPr>
          <p:cNvPr id="4" name="sub-7">
            <a:extLst xmlns:a="http://schemas.openxmlformats.org/drawingml/2006/main">
              <a:ext uri="{FF2B5EF4-FFF2-40B4-BE49-F238E27FC236}">
                <a16:creationId xmlns:a16="http://schemas.microsoft.com/office/drawing/2014/main" id="{491A1FCD-FEA7-4B9A-BD6D-FCEE08DC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召回內容延續使用者最後卡點，降低重新進入課程的心理成本。</a:t>
            </a:r>
          </a:p>
        </p:txBody>
      </p:sp>
      <p:sp>
        <p:nvSpPr>
          <p:cNvPr id="5" name="recall-0">
            <a:extLst xmlns:a="http://schemas.openxmlformats.org/drawingml/2006/main">
              <a:ext uri="{FF2B5EF4-FFF2-40B4-BE49-F238E27FC236}">
                <a16:creationId xmlns:a16="http://schemas.microsoft.com/office/drawing/2014/main" id="{96297CCB-0058-4A2B-8B7C-98BF25C7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333500" cy="20193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CE9E1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6" name="recall-1">
            <a:extLst xmlns:a="http://schemas.openxmlformats.org/drawingml/2006/main">
              <a:ext uri="{FF2B5EF4-FFF2-40B4-BE49-F238E27FC236}">
                <a16:creationId xmlns:a16="http://schemas.microsoft.com/office/drawing/2014/main" id="{5585CF29-6488-4CC2-A196-CAA33536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1333500" cy="20193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5EAFF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7" name="recall-2">
            <a:extLst xmlns:a="http://schemas.openxmlformats.org/drawingml/2006/main">
              <a:ext uri="{FF2B5EF4-FFF2-40B4-BE49-F238E27FC236}">
                <a16:creationId xmlns:a16="http://schemas.microsoft.com/office/drawing/2014/main" id="{F1C1A709-D9DE-4FDC-BA7A-1B73DFB0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57450"/>
            <a:ext cx="1333500" cy="20193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FFF2AE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8" name="recall-3">
            <a:extLst xmlns:a="http://schemas.openxmlformats.org/drawingml/2006/main">
              <a:ext uri="{FF2B5EF4-FFF2-40B4-BE49-F238E27FC236}">
                <a16:creationId xmlns:a16="http://schemas.microsoft.com/office/drawing/2014/main" id="{B6E28163-BBA4-4D5F-A772-A729A5FA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333500" cy="20193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DDF0E8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9" name="recall-4">
            <a:extLst xmlns:a="http://schemas.openxmlformats.org/drawingml/2006/main">
              <a:ext uri="{FF2B5EF4-FFF2-40B4-BE49-F238E27FC236}">
                <a16:creationId xmlns:a16="http://schemas.microsoft.com/office/drawing/2014/main" id="{BF4F6592-634A-4917-85A4-42F36E20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57450"/>
            <a:ext cx="1333500" cy="20193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FFE4DD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47850" y="34671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6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05300" y="34671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D63D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762750" y="34671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6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20200" y="34671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6"/>
            </a:solidFill>
            <a:prstDash val="solid"/>
            <a:tailEnd type="arrow" w="sm" len="sm"/>
          </a:ln>
        </p:spPr>
      </p:cxnSp>
      <p:sp>
        <p:nvSpPr>
          <p:cNvPr id="14" name="rn-0">
            <a:extLst xmlns:a="http://schemas.openxmlformats.org/drawingml/2006/main">
              <a:ext uri="{FF2B5EF4-FFF2-40B4-BE49-F238E27FC236}">
                <a16:creationId xmlns:a16="http://schemas.microsoft.com/office/drawing/2014/main" id="{E13B5924-D704-430A-AC91-F39AFEBA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5" name="rt-0">
            <a:extLst xmlns:a="http://schemas.openxmlformats.org/drawingml/2006/main">
              <a:ext uri="{FF2B5EF4-FFF2-40B4-BE49-F238E27FC236}">
                <a16:creationId xmlns:a16="http://schemas.microsoft.com/office/drawing/2014/main" id="{F8DFD19D-795C-41F4-AE93-4C75037C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離站</a:t>
            </a:r>
          </a:p>
        </p:txBody>
      </p:sp>
      <p:sp>
        <p:nvSpPr>
          <p:cNvPr id="16" name="rd-0">
            <a:extLst xmlns:a="http://schemas.openxmlformats.org/drawingml/2006/main">
              <a:ext uri="{FF2B5EF4-FFF2-40B4-BE49-F238E27FC236}">
                <a16:creationId xmlns:a16="http://schemas.microsoft.com/office/drawing/2014/main" id="{2FD9B2F1-EF79-4415-9C0D-14440BE2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未完成章節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保留最後卡點</a:t>
            </a:r>
          </a:p>
        </p:txBody>
      </p:sp>
      <p:sp>
        <p:nvSpPr>
          <p:cNvPr id="17" name="rn-1">
            <a:extLst xmlns:a="http://schemas.openxmlformats.org/drawingml/2006/main">
              <a:ext uri="{FF2B5EF4-FFF2-40B4-BE49-F238E27FC236}">
                <a16:creationId xmlns:a16="http://schemas.microsoft.com/office/drawing/2014/main" id="{FFACE37D-0C64-4816-A3C0-98482EFC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8" name="rt-1">
            <a:extLst xmlns:a="http://schemas.openxmlformats.org/drawingml/2006/main">
              <a:ext uri="{FF2B5EF4-FFF2-40B4-BE49-F238E27FC236}">
                <a16:creationId xmlns:a16="http://schemas.microsoft.com/office/drawing/2014/main" id="{CCD352C1-AF21-4C02-BD7D-061D75D0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等待窗</a:t>
            </a:r>
          </a:p>
        </p:txBody>
      </p:sp>
      <p:sp>
        <p:nvSpPr>
          <p:cNvPr id="19" name="rd-1">
            <a:extLst xmlns:a="http://schemas.openxmlformats.org/drawingml/2006/main">
              <a:ext uri="{FF2B5EF4-FFF2-40B4-BE49-F238E27FC236}">
                <a16:creationId xmlns:a16="http://schemas.microsoft.com/office/drawing/2014/main" id="{9F6DDBC2-D00B-4CF1-8B4E-261D0847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24h / 72h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頻率與同意控管</a:t>
            </a:r>
          </a:p>
        </p:txBody>
      </p:sp>
      <p:sp>
        <p:nvSpPr>
          <p:cNvPr id="20" name="rn-2">
            <a:extLst xmlns:a="http://schemas.openxmlformats.org/drawingml/2006/main">
              <a:ext uri="{FF2B5EF4-FFF2-40B4-BE49-F238E27FC236}">
                <a16:creationId xmlns:a16="http://schemas.microsoft.com/office/drawing/2014/main" id="{6CE6E33D-AC45-4D97-86E5-05ED5C16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1" name="rt-2">
            <a:extLst xmlns:a="http://schemas.openxmlformats.org/drawingml/2006/main">
              <a:ext uri="{FF2B5EF4-FFF2-40B4-BE49-F238E27FC236}">
                <a16:creationId xmlns:a16="http://schemas.microsoft.com/office/drawing/2014/main" id="{54F6BD74-C4E8-40B4-BCC8-5FEED511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召回</a:t>
            </a:r>
          </a:p>
        </p:txBody>
      </p:sp>
      <p:sp>
        <p:nvSpPr>
          <p:cNvPr id="22" name="rd-2">
            <a:extLst xmlns:a="http://schemas.openxmlformats.org/drawingml/2006/main">
              <a:ext uri="{FF2B5EF4-FFF2-40B4-BE49-F238E27FC236}">
                <a16:creationId xmlns:a16="http://schemas.microsoft.com/office/drawing/2014/main" id="{A1308C96-2CA8-44DB-A323-ADAB4025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052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Email / Push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一個具體任務</a:t>
            </a:r>
          </a:p>
        </p:txBody>
      </p:sp>
      <p:sp>
        <p:nvSpPr>
          <p:cNvPr id="23" name="rn-3">
            <a:extLst xmlns:a="http://schemas.openxmlformats.org/drawingml/2006/main">
              <a:ext uri="{FF2B5EF4-FFF2-40B4-BE49-F238E27FC236}">
                <a16:creationId xmlns:a16="http://schemas.microsoft.com/office/drawing/2014/main" id="{BBBF1879-32F3-4858-A5B9-F9A0E617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rt-3">
            <a:extLst xmlns:a="http://schemas.openxmlformats.org/drawingml/2006/main">
              <a:ext uri="{FF2B5EF4-FFF2-40B4-BE49-F238E27FC236}">
                <a16:creationId xmlns:a16="http://schemas.microsoft.com/office/drawing/2014/main" id="{1CFFF695-3CA4-45A3-BE61-3403D01E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289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Deep Link</a:t>
            </a:r>
          </a:p>
        </p:txBody>
      </p:sp>
      <p:sp>
        <p:nvSpPr>
          <p:cNvPr id="25" name="rd-3">
            <a:extLst xmlns:a="http://schemas.openxmlformats.org/drawingml/2006/main">
              <a:ext uri="{FF2B5EF4-FFF2-40B4-BE49-F238E27FC236}">
                <a16:creationId xmlns:a16="http://schemas.microsoft.com/office/drawing/2014/main" id="{7A54D9D5-DC74-4A68-B2BD-DAB082A1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直接回到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片段＋解法</a:t>
            </a:r>
          </a:p>
        </p:txBody>
      </p:sp>
      <p:sp>
        <p:nvSpPr>
          <p:cNvPr id="26" name="rn-4">
            <a:extLst xmlns:a="http://schemas.openxmlformats.org/drawingml/2006/main">
              <a:ext uri="{FF2B5EF4-FFF2-40B4-BE49-F238E27FC236}">
                <a16:creationId xmlns:a16="http://schemas.microsoft.com/office/drawing/2014/main" id="{4A80EBD1-89E8-439E-B525-73CAB0EA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47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27" name="rt-4">
            <a:extLst xmlns:a="http://schemas.openxmlformats.org/drawingml/2006/main">
              <a:ext uri="{FF2B5EF4-FFF2-40B4-BE49-F238E27FC236}">
                <a16:creationId xmlns:a16="http://schemas.microsoft.com/office/drawing/2014/main" id="{36544CC0-9824-484B-A6A2-D8722435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289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量測</a:t>
            </a:r>
          </a:p>
        </p:txBody>
      </p:sp>
      <p:sp>
        <p:nvSpPr>
          <p:cNvPr id="28" name="rd-4">
            <a:extLst xmlns:a="http://schemas.openxmlformats.org/drawingml/2006/main">
              <a:ext uri="{FF2B5EF4-FFF2-40B4-BE49-F238E27FC236}">
                <a16:creationId xmlns:a16="http://schemas.microsoft.com/office/drawing/2014/main" id="{03668856-DE5A-4FC0-A76F-DC9F77AC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5052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回站／恢復／完課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歸因到 intervention</a:t>
            </a:r>
          </a:p>
        </p:txBody>
      </p:sp>
      <p:sp>
        <p:nvSpPr>
          <p:cNvPr id="29" name="message">
            <a:extLst xmlns:a="http://schemas.openxmlformats.org/drawingml/2006/main">
              <a:ext uri="{FF2B5EF4-FFF2-40B4-BE49-F238E27FC236}">
                <a16:creationId xmlns:a16="http://schemas.microsoft.com/office/drawing/2014/main" id="{F83A724A-8111-421A-93F5-5329C391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53000"/>
            <a:ext cx="6172200" cy="1028700"/>
          </a:xfrm>
          <a:prstGeom xmlns:a="http://schemas.openxmlformats.org/drawingml/2006/main" prst="roundRect">
            <a:avLst>
              <a:gd name="adj" fmla="val 2037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ill-個人化召回">
            <a:extLst xmlns:a="http://schemas.openxmlformats.org/drawingml/2006/main">
              <a:ext uri="{FF2B5EF4-FFF2-40B4-BE49-F238E27FC236}">
                <a16:creationId xmlns:a16="http://schemas.microsoft.com/office/drawing/2014/main" id="{FB5B32F1-599E-4E3D-A8AF-167AA2F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illtxt-個人化召回">
            <a:extLst xmlns:a="http://schemas.openxmlformats.org/drawingml/2006/main">
              <a:ext uri="{FF2B5EF4-FFF2-40B4-BE49-F238E27FC236}">
                <a16:creationId xmlns:a16="http://schemas.microsoft.com/office/drawing/2014/main" id="{7AE00D27-5636-46F0-92FF-8A352563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個人化召回</a:t>
            </a:r>
          </a:p>
        </p:txBody>
      </p:sp>
      <p:sp>
        <p:nvSpPr>
          <p:cNvPr id="32" name="msg-title">
            <a:extLst xmlns:a="http://schemas.openxmlformats.org/drawingml/2006/main">
              <a:ext uri="{FF2B5EF4-FFF2-40B4-BE49-F238E27FC236}">
                <a16:creationId xmlns:a16="http://schemas.microsoft.com/office/drawing/2014/main" id="{75ED409C-60CF-40F9-B4A3-36B1DB7E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054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「你停在 JOIN 的共同欄位，2 分鐘看一個生活案例」</a:t>
            </a:r>
          </a:p>
        </p:txBody>
      </p:sp>
      <p:sp>
        <p:nvSpPr>
          <p:cNvPr id="33" name="msg-small">
            <a:extLst xmlns:a="http://schemas.openxmlformats.org/drawingml/2006/main">
              <a:ext uri="{FF2B5EF4-FFF2-40B4-BE49-F238E27FC236}">
                <a16:creationId xmlns:a16="http://schemas.microsoft.com/office/drawing/2014/main" id="{7FC9EB90-AD55-4C7C-9A63-E6172F4C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245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5C5BF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C5C5BF"/>
                </a:solidFill>
                <a:latin typeface="PingFang TC"/>
                <a:ea typeface="PingFang TC"/>
                <a:cs typeface="PingFang TC"/>
              </a:rPr>
              <a:t>不是泛用提醒；是把上次未解決的問題，變成這次可完成的任務。</a:t>
            </a:r>
          </a:p>
        </p:txBody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A7066F39-FFB1-4FAC-8E2C-D5520273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rPr>
              <a:t>隱私與信任：匿名 ID、同意管理、頻率上限、退訂、避免敏感對話進入通知內容</a:t>
            </a:r>
          </a:p>
        </p:txBody>
      </p:sp>
    </p:spTree>
    <p:extLst>
      <p:ext uri="{BB962C8B-B14F-4D97-AF65-F5344CB8AC3E}">
        <p14:creationId xmlns:p14="http://schemas.microsoft.com/office/powerpoint/2010/main" val="240160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-8">
            <a:extLst xmlns:a="http://schemas.openxmlformats.org/drawingml/2006/main">
              <a:ext uri="{FF2B5EF4-FFF2-40B4-BE49-F238E27FC236}">
                <a16:creationId xmlns:a16="http://schemas.microsoft.com/office/drawing/2014/main" id="{668B2AA4-71E5-47B4-A35D-78F4606A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2" name="eyebrow-8">
            <a:extLst xmlns:a="http://schemas.openxmlformats.org/drawingml/2006/main">
              <a:ext uri="{FF2B5EF4-FFF2-40B4-BE49-F238E27FC236}">
                <a16:creationId xmlns:a16="http://schemas.microsoft.com/office/drawing/2014/main" id="{BCD9A1DF-9AB7-440C-86F1-05C0A936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PROTOTYPE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503A367B-85D1-4DB6-BE4B-5EF39268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不是概念圖：核心學習恢復流程已可操作</a:t>
            </a:r>
          </a:p>
        </p:txBody>
      </p:sp>
      <p:sp>
        <p:nvSpPr>
          <p:cNvPr id="4" name="sub-8">
            <a:extLst xmlns:a="http://schemas.openxmlformats.org/drawingml/2006/main">
              <a:ext uri="{FF2B5EF4-FFF2-40B4-BE49-F238E27FC236}">
                <a16:creationId xmlns:a16="http://schemas.microsoft.com/office/drawing/2014/main" id="{99490E5D-EB0D-4129-BC67-5FC5B8AA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桌面與手機響應式；一鍵觸發情境，不依賴模型等待，現場可穩定 Reset。</a:t>
            </a:r>
          </a:p>
        </p:txBody>
      </p:sp>
      <p:sp>
        <p:nvSpPr>
          <p:cNvPr id="5" name="screen">
            <a:extLst xmlns:a="http://schemas.openxmlformats.org/drawingml/2006/main">
              <a:ext uri="{FF2B5EF4-FFF2-40B4-BE49-F238E27FC236}">
                <a16:creationId xmlns:a16="http://schemas.microsoft.com/office/drawing/2014/main" id="{64186C6B-0C69-44F7-8649-B369C299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3924300"/>
          </a:xfrm>
          <a:prstGeom xmlns:a="http://schemas.openxmlformats.org/drawingml/2006/main" prst="roundRect">
            <a:avLst>
              <a:gd name="adj" fmla="val 53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screen-header">
            <a:extLst xmlns:a="http://schemas.openxmlformats.org/drawingml/2006/main">
              <a:ext uri="{FF2B5EF4-FFF2-40B4-BE49-F238E27FC236}">
                <a16:creationId xmlns:a16="http://schemas.microsoft.com/office/drawing/2014/main" id="{28F139ED-C305-488D-B494-E93AE6A6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33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7" name="pill-▶ LearnPulse">
            <a:extLst xmlns:a="http://schemas.openxmlformats.org/drawingml/2006/main">
              <a:ext uri="{FF2B5EF4-FFF2-40B4-BE49-F238E27FC236}">
                <a16:creationId xmlns:a16="http://schemas.microsoft.com/office/drawing/2014/main" id="{02BFF5FD-F8F1-4431-9D91-E512128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lltxt-▶ LearnPulse">
            <a:extLst xmlns:a="http://schemas.openxmlformats.org/drawingml/2006/main">
              <a:ext uri="{FF2B5EF4-FFF2-40B4-BE49-F238E27FC236}">
                <a16:creationId xmlns:a16="http://schemas.microsoft.com/office/drawing/2014/main" id="{7563970F-87E1-4842-A8FD-021D4E13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▶ LearnPulse</a:t>
            </a:r>
          </a:p>
        </p:txBody>
      </p:sp>
      <p:sp>
        <p:nvSpPr>
          <p:cNvPr id="9" name="nav">
            <a:extLst xmlns:a="http://schemas.openxmlformats.org/drawingml/2006/main">
              <a:ext uri="{FF2B5EF4-FFF2-40B4-BE49-F238E27FC236}">
                <a16:creationId xmlns:a16="http://schemas.microsoft.com/office/drawing/2014/main" id="{E8FEDCC5-3F32-4B8F-B945-8444D88F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955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探索課程    我的學習    學習專區</a:t>
            </a:r>
          </a:p>
        </p:txBody>
      </p:sp>
      <p:sp>
        <p:nvSpPr>
          <p:cNvPr id="10" name="chapters">
            <a:extLst xmlns:a="http://schemas.openxmlformats.org/drawingml/2006/main">
              <a:ext uri="{FF2B5EF4-FFF2-40B4-BE49-F238E27FC236}">
                <a16:creationId xmlns:a16="http://schemas.microsoft.com/office/drawing/2014/main" id="{10D6FE80-28AB-4DDF-B9D7-B2B8586F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390650" cy="300990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7F5EE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11" name="chap-title">
            <a:extLst xmlns:a="http://schemas.openxmlformats.org/drawingml/2006/main">
              <a:ext uri="{FF2B5EF4-FFF2-40B4-BE49-F238E27FC236}">
                <a16:creationId xmlns:a16="http://schemas.microsoft.com/office/drawing/2014/main" id="{FC4B9705-9380-49F1-A73A-2CAADC44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課程章節</a:t>
            </a:r>
          </a:p>
        </p:txBody>
      </p:sp>
      <p:sp>
        <p:nvSpPr>
          <p:cNvPr id="12" name="ch-0">
            <a:extLst xmlns:a="http://schemas.openxmlformats.org/drawingml/2006/main">
              <a:ext uri="{FF2B5EF4-FFF2-40B4-BE49-F238E27FC236}">
                <a16:creationId xmlns:a16="http://schemas.microsoft.com/office/drawing/2014/main" id="{D98B899B-1B9C-4A3B-8F5B-A6448EEE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✓ 關聯欄位</a:t>
            </a:r>
          </a:p>
        </p:txBody>
      </p:sp>
      <p:sp>
        <p:nvSpPr>
          <p:cNvPr id="13" name="active-ch">
            <a:extLst xmlns:a="http://schemas.openxmlformats.org/drawingml/2006/main">
              <a:ext uri="{FF2B5EF4-FFF2-40B4-BE49-F238E27FC236}">
                <a16:creationId xmlns:a16="http://schemas.microsoft.com/office/drawing/2014/main" id="{ABE274AF-B196-4EC3-A0A6-2AE964FC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2001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2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-1">
            <a:extLst xmlns:a="http://schemas.openxmlformats.org/drawingml/2006/main">
              <a:ext uri="{FF2B5EF4-FFF2-40B4-BE49-F238E27FC236}">
                <a16:creationId xmlns:a16="http://schemas.microsoft.com/office/drawing/2014/main" id="{424F5F1C-947A-467A-ACCD-4ECA996E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2 JOIN 串表</a:t>
            </a:r>
          </a:p>
        </p:txBody>
      </p:sp>
      <p:sp>
        <p:nvSpPr>
          <p:cNvPr id="15" name="ch-2">
            <a:extLst xmlns:a="http://schemas.openxmlformats.org/drawingml/2006/main">
              <a:ext uri="{FF2B5EF4-FFF2-40B4-BE49-F238E27FC236}">
                <a16:creationId xmlns:a16="http://schemas.microsoft.com/office/drawing/2014/main" id="{8EE0BC5A-BE6F-4496-8E5F-781A1761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3 INNER JOIN</a:t>
            </a:r>
          </a:p>
        </p:txBody>
      </p:sp>
      <p:sp>
        <p:nvSpPr>
          <p:cNvPr id="16" name="ch-3">
            <a:extLst xmlns:a="http://schemas.openxmlformats.org/drawingml/2006/main">
              <a:ext uri="{FF2B5EF4-FFF2-40B4-BE49-F238E27FC236}">
                <a16:creationId xmlns:a16="http://schemas.microsoft.com/office/drawing/2014/main" id="{84EB7669-6833-4572-87D8-EF1645EC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4 知識挑戰</a:t>
            </a:r>
          </a:p>
        </p:txBody>
      </p:sp>
      <p:sp>
        <p:nvSpPr>
          <p:cNvPr id="17" name="mini-video">
            <a:extLst xmlns:a="http://schemas.openxmlformats.org/drawingml/2006/main">
              <a:ext uri="{FF2B5EF4-FFF2-40B4-BE49-F238E27FC236}">
                <a16:creationId xmlns:a16="http://schemas.microsoft.com/office/drawing/2014/main" id="{AA23C3AD-212F-43A2-AB4B-6A1A35C9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33718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2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ni-video-text">
            <a:extLst xmlns:a="http://schemas.openxmlformats.org/drawingml/2006/main">
              <a:ext uri="{FF2B5EF4-FFF2-40B4-BE49-F238E27FC236}">
                <a16:creationId xmlns:a16="http://schemas.microsoft.com/office/drawing/2014/main" id="{F1AD7859-D369-4560-A475-C8B3A746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用 JOIN 串起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兩張資料表</a:t>
            </a:r>
          </a:p>
        </p:txBody>
      </p:sp>
      <p:sp>
        <p:nvSpPr>
          <p:cNvPr id="19" name="mini-prog-bg">
            <a:extLst xmlns:a="http://schemas.openxmlformats.org/drawingml/2006/main">
              <a:ext uri="{FF2B5EF4-FFF2-40B4-BE49-F238E27FC236}">
                <a16:creationId xmlns:a16="http://schemas.microsoft.com/office/drawing/2014/main" id="{D347F54A-86A9-4DBC-A2E2-03E59F7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52950"/>
            <a:ext cx="2933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ini-prog">
            <a:extLst xmlns:a="http://schemas.openxmlformats.org/drawingml/2006/main">
              <a:ext uri="{FF2B5EF4-FFF2-40B4-BE49-F238E27FC236}">
                <a16:creationId xmlns:a16="http://schemas.microsoft.com/office/drawing/2014/main" id="{716CFE85-C068-4576-A234-0F6A5CD7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5295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AAF95-9E38-4AA3-95DD-5134ED3D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ini-ai">
            <a:extLst xmlns:a="http://schemas.openxmlformats.org/drawingml/2006/main">
              <a:ext uri="{FF2B5EF4-FFF2-40B4-BE49-F238E27FC236}">
                <a16:creationId xmlns:a16="http://schemas.microsoft.com/office/drawing/2014/main" id="{C8B3883A-647E-490A-A50B-9832FCD4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1885950" cy="300990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23" name="mini-ai-label">
            <a:extLst xmlns:a="http://schemas.openxmlformats.org/drawingml/2006/main">
              <a:ext uri="{FF2B5EF4-FFF2-40B4-BE49-F238E27FC236}">
                <a16:creationId xmlns:a16="http://schemas.microsoft.com/office/drawing/2014/main" id="{F56D5FEB-EF51-4CE6-84CF-3AA0A64E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AI LEARNING COMPANION</a:t>
            </a:r>
          </a:p>
        </p:txBody>
      </p:sp>
      <p:sp>
        <p:nvSpPr>
          <p:cNvPr id="24" name="mini-ai-head">
            <a:extLst xmlns:a="http://schemas.openxmlformats.org/drawingml/2006/main">
              <a:ext uri="{FF2B5EF4-FFF2-40B4-BE49-F238E27FC236}">
                <a16:creationId xmlns:a16="http://schemas.microsoft.com/office/drawing/2014/main" id="{509BD582-27A9-4D73-A041-C205CA5D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99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換個方式理解</a:t>
            </a:r>
          </a:p>
        </p:txBody>
      </p:sp>
      <p:sp>
        <p:nvSpPr>
          <p:cNvPr id="25" name="mini-answer">
            <a:extLst xmlns:a="http://schemas.openxmlformats.org/drawingml/2006/main">
              <a:ext uri="{FF2B5EF4-FFF2-40B4-BE49-F238E27FC236}">
                <a16:creationId xmlns:a16="http://schemas.microsoft.com/office/drawing/2014/main" id="{E6562738-9266-4554-B5BE-81F11A0E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48050"/>
            <a:ext cx="15811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ini-answer-text">
            <a:extLst xmlns:a="http://schemas.openxmlformats.org/drawingml/2006/main">
              <a:ext uri="{FF2B5EF4-FFF2-40B4-BE49-F238E27FC236}">
                <a16:creationId xmlns:a16="http://schemas.microsoft.com/office/drawing/2014/main" id="{11E13C20-7C96-4FD3-B1CE-0FDDAB43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1314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先找兩張表共有的欄位，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例如 member_id。</a:t>
            </a:r>
          </a:p>
        </p:txBody>
      </p:sp>
      <p:sp>
        <p:nvSpPr>
          <p:cNvPr id="27" name="mini-button">
            <a:extLst xmlns:a="http://schemas.openxmlformats.org/drawingml/2006/main">
              <a:ext uri="{FF2B5EF4-FFF2-40B4-BE49-F238E27FC236}">
                <a16:creationId xmlns:a16="http://schemas.microsoft.com/office/drawing/2014/main" id="{CBDF6115-9169-45A8-988C-1650646B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86300"/>
            <a:ext cx="15811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ini-button-t">
            <a:extLst xmlns:a="http://schemas.openxmlformats.org/drawingml/2006/main">
              <a:ext uri="{FF2B5EF4-FFF2-40B4-BE49-F238E27FC236}">
                <a16:creationId xmlns:a16="http://schemas.microsoft.com/office/drawing/2014/main" id="{19978AE6-9C95-4DA3-BAE5-232F2445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863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用生活例子說明</a:t>
            </a:r>
          </a:p>
        </p:txBody>
      </p:sp>
      <p:sp>
        <p:nvSpPr>
          <p:cNvPr id="29" name="flow-label">
            <a:extLst xmlns:a="http://schemas.openxmlformats.org/drawingml/2006/main">
              <a:ext uri="{FF2B5EF4-FFF2-40B4-BE49-F238E27FC236}">
                <a16:creationId xmlns:a16="http://schemas.microsoft.com/office/drawing/2014/main" id="{EDEE2C5E-3C7E-4DEB-9434-ADBC4939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現場 Demo：90 秒完成閉環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D6261-85EC-46B5-9894-E7417A9D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n-0">
            <a:extLst xmlns:a="http://schemas.openxmlformats.org/drawingml/2006/main">
              <a:ext uri="{FF2B5EF4-FFF2-40B4-BE49-F238E27FC236}">
                <a16:creationId xmlns:a16="http://schemas.microsoft.com/office/drawing/2014/main" id="{08BB8A52-54CF-42AA-A668-82FD9832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32" name="ft-0">
            <a:extLst xmlns:a="http://schemas.openxmlformats.org/drawingml/2006/main">
              <a:ext uri="{FF2B5EF4-FFF2-40B4-BE49-F238E27FC236}">
                <a16:creationId xmlns:a16="http://schemas.microsoft.com/office/drawing/2014/main" id="{E2645393-7839-44F4-9C91-13F07B73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574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觸發困惑情境</a:t>
            </a:r>
          </a:p>
        </p:txBody>
      </p:sp>
      <p:sp>
        <p:nvSpPr>
          <p:cNvPr id="33" name="fl-0">
            <a:extLst xmlns:a="http://schemas.openxmlformats.org/drawingml/2006/main">
              <a:ext uri="{FF2B5EF4-FFF2-40B4-BE49-F238E27FC236}">
                <a16:creationId xmlns:a16="http://schemas.microsoft.com/office/drawing/2014/main" id="{5209A298-6989-4D26-A4B0-267A9F82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E85BF-7423-4461-81F5-349FCC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n-1">
            <a:extLst xmlns:a="http://schemas.openxmlformats.org/drawingml/2006/main">
              <a:ext uri="{FF2B5EF4-FFF2-40B4-BE49-F238E27FC236}">
                <a16:creationId xmlns:a16="http://schemas.microsoft.com/office/drawing/2014/main" id="{6DBEE62C-C944-4F17-80CE-C4432F4A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36" name="ft-1">
            <a:extLst xmlns:a="http://schemas.openxmlformats.org/drawingml/2006/main">
              <a:ext uri="{FF2B5EF4-FFF2-40B4-BE49-F238E27FC236}">
                <a16:creationId xmlns:a16="http://schemas.microsoft.com/office/drawing/2014/main" id="{EE090F2F-D906-4B6E-B02C-39B3B340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接受生活案例</a:t>
            </a:r>
          </a:p>
        </p:txBody>
      </p:sp>
      <p:sp>
        <p:nvSpPr>
          <p:cNvPr id="37" name="fl-1">
            <a:extLst xmlns:a="http://schemas.openxmlformats.org/drawingml/2006/main">
              <a:ext uri="{FF2B5EF4-FFF2-40B4-BE49-F238E27FC236}">
                <a16:creationId xmlns:a16="http://schemas.microsoft.com/office/drawing/2014/main" id="{C6FA077F-3B73-4EB7-B616-79FEC035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5958CB-1453-4C6F-A51E-9EAB034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n-2">
            <a:extLst xmlns:a="http://schemas.openxmlformats.org/drawingml/2006/main">
              <a:ext uri="{FF2B5EF4-FFF2-40B4-BE49-F238E27FC236}">
                <a16:creationId xmlns:a16="http://schemas.microsoft.com/office/drawing/2014/main" id="{ED2B8222-09BE-4BF5-A353-DAAF9A29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29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40" name="ft-2">
            <a:extLst xmlns:a="http://schemas.openxmlformats.org/drawingml/2006/main">
              <a:ext uri="{FF2B5EF4-FFF2-40B4-BE49-F238E27FC236}">
                <a16:creationId xmlns:a16="http://schemas.microsoft.com/office/drawing/2014/main" id="{AD9DDC5B-BD09-4B19-A287-9D324B79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528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繼續播放</a:t>
            </a:r>
          </a:p>
        </p:txBody>
      </p:sp>
      <p:sp>
        <p:nvSpPr>
          <p:cNvPr id="41" name="fl-2">
            <a:extLst xmlns:a="http://schemas.openxmlformats.org/drawingml/2006/main">
              <a:ext uri="{FF2B5EF4-FFF2-40B4-BE49-F238E27FC236}">
                <a16:creationId xmlns:a16="http://schemas.microsoft.com/office/drawing/2014/main" id="{C54A3827-27E6-4328-9F92-031DB4B8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D1163A-9A44-40F0-9808-A9A24853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n-3">
            <a:extLst xmlns:a="http://schemas.openxmlformats.org/drawingml/2006/main">
              <a:ext uri="{FF2B5EF4-FFF2-40B4-BE49-F238E27FC236}">
                <a16:creationId xmlns:a16="http://schemas.microsoft.com/office/drawing/2014/main" id="{F676C7C9-D5E1-4CB0-9D20-AEADD8CA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44" name="ft-3">
            <a:extLst xmlns:a="http://schemas.openxmlformats.org/drawingml/2006/main">
              <a:ext uri="{FF2B5EF4-FFF2-40B4-BE49-F238E27FC236}">
                <a16:creationId xmlns:a16="http://schemas.microsoft.com/office/drawing/2014/main" id="{12522606-C8A1-4B58-9C01-C9E02558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完成章節</a:t>
            </a:r>
          </a:p>
        </p:txBody>
      </p:sp>
      <p:sp>
        <p:nvSpPr>
          <p:cNvPr id="45" name="fl-3">
            <a:extLst xmlns:a="http://schemas.openxmlformats.org/drawingml/2006/main">
              <a:ext uri="{FF2B5EF4-FFF2-40B4-BE49-F238E27FC236}">
                <a16:creationId xmlns:a16="http://schemas.microsoft.com/office/drawing/2014/main" id="{889F399E-B1D5-4A83-8C6C-1983F9D4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434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AA483D-1430-4B0D-8EC4-958533AD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n-4">
            <a:extLst xmlns:a="http://schemas.openxmlformats.org/drawingml/2006/main">
              <a:ext uri="{FF2B5EF4-FFF2-40B4-BE49-F238E27FC236}">
                <a16:creationId xmlns:a16="http://schemas.microsoft.com/office/drawing/2014/main" id="{4537AE20-4670-4007-9055-FCBD08AD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24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48" name="ft-4">
            <a:extLst xmlns:a="http://schemas.openxmlformats.org/drawingml/2006/main">
              <a:ext uri="{FF2B5EF4-FFF2-40B4-BE49-F238E27FC236}">
                <a16:creationId xmlns:a16="http://schemas.microsoft.com/office/drawing/2014/main" id="{19C6A7F0-BB6A-4514-BC56-4D308A15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482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顯示概念拼圖</a:t>
            </a:r>
          </a:p>
        </p:txBody>
      </p:sp>
      <p:sp>
        <p:nvSpPr>
          <p:cNvPr id="49" name="done">
            <a:extLst xmlns:a="http://schemas.openxmlformats.org/drawingml/2006/main">
              <a:ext uri="{FF2B5EF4-FFF2-40B4-BE49-F238E27FC236}">
                <a16:creationId xmlns:a16="http://schemas.microsoft.com/office/drawing/2014/main" id="{B7705A1E-28E7-49A4-A408-364834F1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905500"/>
            <a:ext cx="323850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2F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one-t">
            <a:extLst xmlns:a="http://schemas.openxmlformats.org/drawingml/2006/main">
              <a:ext uri="{FF2B5EF4-FFF2-40B4-BE49-F238E27FC236}">
                <a16:creationId xmlns:a16="http://schemas.microsoft.com/office/drawing/2014/main" id="{535FD301-2F26-4DCA-8640-9E1CA342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9055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Prototype：核心 P0 已完成</a:t>
            </a:r>
          </a:p>
        </p:txBody>
      </p:sp>
      <p:sp>
        <p:nvSpPr>
          <p:cNvPr id="51" name="footer">
            <a:extLst xmlns:a="http://schemas.openxmlformats.org/drawingml/2006/main">
              <a:ext uri="{FF2B5EF4-FFF2-40B4-BE49-F238E27FC236}">
                <a16:creationId xmlns:a16="http://schemas.microsoft.com/office/drawing/2014/main" id="{B49F23C3-6BC7-4A2A-9C1D-05342CCB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rPr>
              <a:t>產品依據：目前 /prototype 與正式 /learn/[lessonId] 流程；畫面於本簡報以可編輯元件重建</a:t>
            </a:r>
          </a:p>
        </p:txBody>
      </p:sp>
    </p:spTree>
    <p:extLst>
      <p:ext uri="{BB962C8B-B14F-4D97-AF65-F5344CB8AC3E}">
        <p14:creationId xmlns:p14="http://schemas.microsoft.com/office/powerpoint/2010/main" val="57276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-9">
            <a:extLst xmlns:a="http://schemas.openxmlformats.org/drawingml/2006/main">
              <a:ext uri="{FF2B5EF4-FFF2-40B4-BE49-F238E27FC236}">
                <a16:creationId xmlns:a16="http://schemas.microsoft.com/office/drawing/2014/main" id="{2F0E7151-1DF5-4953-A4B3-6CDF873E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D63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D63D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2" name="eyebrow-9">
            <a:extLst xmlns:a="http://schemas.openxmlformats.org/drawingml/2006/main">
              <a:ext uri="{FF2B5EF4-FFF2-40B4-BE49-F238E27FC236}">
                <a16:creationId xmlns:a16="http://schemas.microsoft.com/office/drawing/2014/main" id="{9F0087C2-89E0-4FBB-965D-67EC5B5B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B8B8B3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B8B8B3"/>
                </a:solidFill>
                <a:latin typeface="PingFang TC"/>
                <a:ea typeface="PingFang TC"/>
                <a:cs typeface="PingFang TC"/>
              </a:rPr>
              <a:t>AWS ARCHITECTURE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74701532-CD9D-41E5-86D9-68F1A46E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即時介入走熱路徑，模型優化走冷路徑</a:t>
            </a:r>
          </a:p>
        </p:txBody>
      </p:sp>
      <p:sp>
        <p:nvSpPr>
          <p:cNvPr id="4" name="sub-9">
            <a:extLst xmlns:a="http://schemas.openxmlformats.org/drawingml/2006/main">
              <a:ext uri="{FF2B5EF4-FFF2-40B4-BE49-F238E27FC236}">
                <a16:creationId xmlns:a16="http://schemas.microsoft.com/office/drawing/2014/main" id="{5F136954-A9CB-4C7B-8F6A-5E9EE39F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8B8B3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B8B8B3"/>
                </a:solidFill>
                <a:latin typeface="PingFang TC"/>
                <a:ea typeface="PingFang TC"/>
                <a:cs typeface="PingFang TC"/>
              </a:rPr>
              <a:t>Prototype 先用 Lambda Rule Engine；取得正式資料後，可無痛升級至 SageMaker / Bedrock。</a:t>
            </a:r>
          </a:p>
        </p:txBody>
      </p:sp>
      <p:sp>
        <p:nvSpPr>
          <p:cNvPr id="5" name="lane-0">
            <a:extLst xmlns:a="http://schemas.openxmlformats.org/drawingml/2006/main">
              <a:ext uri="{FF2B5EF4-FFF2-40B4-BE49-F238E27FC236}">
                <a16:creationId xmlns:a16="http://schemas.microsoft.com/office/drawing/2014/main" id="{CDAD2A9B-1FAB-43E8-9DA7-E454C738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D63D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D63D"/>
                </a:solidFill>
                <a:latin typeface="PingFang TC"/>
                <a:ea typeface="PingFang TC"/>
                <a:cs typeface="PingFang TC"/>
              </a:rPr>
              <a:t>EXPERIENCE</a:t>
            </a:r>
          </a:p>
        </p:txBody>
      </p:sp>
      <p:sp>
        <p:nvSpPr>
          <p:cNvPr id="6" name="lane-line-0">
            <a:extLst xmlns:a="http://schemas.openxmlformats.org/drawingml/2006/main">
              <a:ext uri="{FF2B5EF4-FFF2-40B4-BE49-F238E27FC236}">
                <a16:creationId xmlns:a16="http://schemas.microsoft.com/office/drawing/2014/main" id="{11CB3DF1-D4D3-4BF1-AFA9-3A784203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764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6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ne-1">
            <a:extLst xmlns:a="http://schemas.openxmlformats.org/drawingml/2006/main">
              <a:ext uri="{FF2B5EF4-FFF2-40B4-BE49-F238E27FC236}">
                <a16:creationId xmlns:a16="http://schemas.microsoft.com/office/drawing/2014/main" id="{142E4898-683D-4BF2-9CA6-548864DC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8E8F89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8E8F89"/>
                </a:solidFill>
                <a:latin typeface="PingFang TC"/>
                <a:ea typeface="PingFang TC"/>
                <a:cs typeface="PingFang TC"/>
              </a:rPr>
              <a:t>REAL-TIME</a:t>
            </a:r>
          </a:p>
        </p:txBody>
      </p:sp>
      <p:sp>
        <p:nvSpPr>
          <p:cNvPr id="8" name="lane-line-1">
            <a:extLst xmlns:a="http://schemas.openxmlformats.org/drawingml/2006/main">
              <a:ext uri="{FF2B5EF4-FFF2-40B4-BE49-F238E27FC236}">
                <a16:creationId xmlns:a16="http://schemas.microsoft.com/office/drawing/2014/main" id="{17F757FE-BC67-481D-8FA6-8087A944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2420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6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ne-2">
            <a:extLst xmlns:a="http://schemas.openxmlformats.org/drawingml/2006/main">
              <a:ext uri="{FF2B5EF4-FFF2-40B4-BE49-F238E27FC236}">
                <a16:creationId xmlns:a16="http://schemas.microsoft.com/office/drawing/2014/main" id="{E97F6804-1D5C-4655-96E0-6855BD5E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8E8F89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8E8F89"/>
                </a:solidFill>
                <a:latin typeface="PingFang TC"/>
                <a:ea typeface="PingFang TC"/>
                <a:cs typeface="PingFang TC"/>
              </a:rPr>
              <a:t>DATA &amp; MODEL</a:t>
            </a:r>
          </a:p>
        </p:txBody>
      </p:sp>
      <p:sp>
        <p:nvSpPr>
          <p:cNvPr id="10" name="lane-line-2">
            <a:extLst xmlns:a="http://schemas.openxmlformats.org/drawingml/2006/main">
              <a:ext uri="{FF2B5EF4-FFF2-40B4-BE49-F238E27FC236}">
                <a16:creationId xmlns:a16="http://schemas.microsoft.com/office/drawing/2014/main" id="{B5A6BD10-24D0-4362-8991-AD43569A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719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6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ne-3">
            <a:extLst xmlns:a="http://schemas.openxmlformats.org/drawingml/2006/main">
              <a:ext uri="{FF2B5EF4-FFF2-40B4-BE49-F238E27FC236}">
                <a16:creationId xmlns:a16="http://schemas.microsoft.com/office/drawing/2014/main" id="{26D77843-A2A3-4D00-B738-965E3AEA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8E8F89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8E8F89"/>
                </a:solidFill>
                <a:latin typeface="PingFang TC"/>
                <a:ea typeface="PingFang TC"/>
                <a:cs typeface="PingFang TC"/>
              </a:rPr>
              <a:t>RECALL &amp; OPS</a:t>
            </a:r>
          </a:p>
        </p:txBody>
      </p:sp>
      <p:sp>
        <p:nvSpPr>
          <p:cNvPr id="12" name="lane-line-3">
            <a:extLst xmlns:a="http://schemas.openxmlformats.org/drawingml/2006/main">
              <a:ext uri="{FF2B5EF4-FFF2-40B4-BE49-F238E27FC236}">
                <a16:creationId xmlns:a16="http://schemas.microsoft.com/office/drawing/2014/main" id="{0FB6A9B2-07EB-4DBA-BC26-E732E92A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6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ws-web">
            <a:extLst xmlns:a="http://schemas.openxmlformats.org/drawingml/2006/main">
              <a:ext uri="{FF2B5EF4-FFF2-40B4-BE49-F238E27FC236}">
                <a16:creationId xmlns:a16="http://schemas.microsoft.com/office/drawing/2014/main" id="{0953B1B8-2CA2-4CDB-B1F4-06E1AC1D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76450"/>
            <a:ext cx="15049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ws-api">
            <a:extLst xmlns:a="http://schemas.openxmlformats.org/drawingml/2006/main">
              <a:ext uri="{FF2B5EF4-FFF2-40B4-BE49-F238E27FC236}">
                <a16:creationId xmlns:a16="http://schemas.microsoft.com/office/drawing/2014/main" id="{765C5DC4-9EB4-4B8D-B6D1-0DD5E6C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342F"/>
          </a:solidFill>
          <a:ln xmlns:a="http://schemas.openxmlformats.org/drawingml/2006/main" w="9525">
            <a:solidFill>
              <a:srgbClr val="55564F"/>
            </a:solidFill>
            <a:prstDash val="solid"/>
          </a:ln>
        </p:spPr>
      </p:sp>
      <p:sp>
        <p:nvSpPr>
          <p:cNvPr id="15" name="aws-ws">
            <a:extLst xmlns:a="http://schemas.openxmlformats.org/drawingml/2006/main">
              <a:ext uri="{FF2B5EF4-FFF2-40B4-BE49-F238E27FC236}">
                <a16:creationId xmlns:a16="http://schemas.microsoft.com/office/drawing/2014/main" id="{524F1B28-D636-4623-9B34-738BD286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342F"/>
          </a:solidFill>
          <a:ln xmlns:a="http://schemas.openxmlformats.org/drawingml/2006/main" w="9525">
            <a:solidFill>
              <a:srgbClr val="55564F"/>
            </a:solidFill>
            <a:prstDash val="solid"/>
          </a:ln>
        </p:spPr>
      </p:sp>
      <p:sp>
        <p:nvSpPr>
          <p:cNvPr id="16" name="aws-ui">
            <a:extLst xmlns:a="http://schemas.openxmlformats.org/drawingml/2006/main">
              <a:ext uri="{FF2B5EF4-FFF2-40B4-BE49-F238E27FC236}">
                <a16:creationId xmlns:a16="http://schemas.microsoft.com/office/drawing/2014/main" id="{83427425-6350-4C12-AA2E-31783588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19240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806C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314700" y="24193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D63D"/>
            </a:solidFill>
            <a:prstDash val="solid"/>
            <a:tailEnd type="arrow" w="sm" len="sm"/>
          </a:ln>
        </p:spPr>
      </p:cxnSp>
      <p:cxnSp>
        <p:nvCxnSpPr>
          <p:cNvPr id="7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581650" y="2419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D63D"/>
            </a:solidFill>
            <a:prstDash val="solid"/>
            <a:tailEnd type="arrow" w="sm" len="sm"/>
          </a:ln>
        </p:spPr>
      </p:cxnSp>
      <p:cxnSp>
        <p:nvCxnSpPr>
          <p:cNvPr id="7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867650" y="2419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806C"/>
            </a:solidFill>
            <a:prstDash val="solid"/>
            <a:tailEnd type="arrow" w="sm" len="sm"/>
          </a:ln>
        </p:spPr>
      </p:cxnSp>
      <p:sp>
        <p:nvSpPr>
          <p:cNvPr id="20" name="aws-web-t">
            <a:extLst xmlns:a="http://schemas.openxmlformats.org/drawingml/2006/main">
              <a:ext uri="{FF2B5EF4-FFF2-40B4-BE49-F238E27FC236}">
                <a16:creationId xmlns:a16="http://schemas.microsoft.com/office/drawing/2014/main" id="{005967DB-3D64-41CE-A5A9-B5E5DAFC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764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Next.js Web / App</a:t>
            </a:r>
          </a:p>
        </p:txBody>
      </p:sp>
      <p:sp>
        <p:nvSpPr>
          <p:cNvPr id="21" name="aws-api-t">
            <a:extLst xmlns:a="http://schemas.openxmlformats.org/drawingml/2006/main">
              <a:ext uri="{FF2B5EF4-FFF2-40B4-BE49-F238E27FC236}">
                <a16:creationId xmlns:a16="http://schemas.microsoft.com/office/drawing/2014/main" id="{066AE394-4EA6-468C-AA3A-61574977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API Gateway</a:t>
            </a:r>
          </a:p>
        </p:txBody>
      </p:sp>
      <p:sp>
        <p:nvSpPr>
          <p:cNvPr id="22" name="aws-ws-t">
            <a:extLst xmlns:a="http://schemas.openxmlformats.org/drawingml/2006/main">
              <a:ext uri="{FF2B5EF4-FFF2-40B4-BE49-F238E27FC236}">
                <a16:creationId xmlns:a16="http://schemas.microsoft.com/office/drawing/2014/main" id="{E0CA9F9A-89FC-4F9B-A3A6-76CDD7E9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WebSocket API</a:t>
            </a:r>
          </a:p>
        </p:txBody>
      </p:sp>
      <p:sp>
        <p:nvSpPr>
          <p:cNvPr id="23" name="aws-ui-t">
            <a:extLst xmlns:a="http://schemas.openxmlformats.org/drawingml/2006/main">
              <a:ext uri="{FF2B5EF4-FFF2-40B4-BE49-F238E27FC236}">
                <a16:creationId xmlns:a16="http://schemas.microsoft.com/office/drawing/2014/main" id="{97D1EB49-5A07-46B1-AF61-926ECAE1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站內即時介入</a:t>
            </a:r>
          </a:p>
        </p:txBody>
      </p:sp>
      <p:sp>
        <p:nvSpPr>
          <p:cNvPr id="24" name="aws-events">
            <a:extLst xmlns:a="http://schemas.openxmlformats.org/drawingml/2006/main">
              <a:ext uri="{FF2B5EF4-FFF2-40B4-BE49-F238E27FC236}">
                <a16:creationId xmlns:a16="http://schemas.microsoft.com/office/drawing/2014/main" id="{D036494F-7B9F-4D59-A43B-3C2054A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24200"/>
            <a:ext cx="15049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342F"/>
          </a:solidFill>
          <a:ln xmlns:a="http://schemas.openxmlformats.org/drawingml/2006/main" w="9525">
            <a:solidFill>
              <a:srgbClr val="55564F"/>
            </a:solidFill>
            <a:prstDash val="solid"/>
          </a:ln>
        </p:spPr>
      </p:sp>
      <p:sp>
        <p:nvSpPr>
          <p:cNvPr id="25" name="aws-lambda">
            <a:extLst xmlns:a="http://schemas.openxmlformats.org/drawingml/2006/main">
              <a:ext uri="{FF2B5EF4-FFF2-40B4-BE49-F238E27FC236}">
                <a16:creationId xmlns:a16="http://schemas.microsoft.com/office/drawing/2014/main" id="{052FEDDD-F77B-45D4-A9BB-0F4FB7B1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6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ws-ddb">
            <a:extLst xmlns:a="http://schemas.openxmlformats.org/drawingml/2006/main">
              <a:ext uri="{FF2B5EF4-FFF2-40B4-BE49-F238E27FC236}">
                <a16:creationId xmlns:a16="http://schemas.microsoft.com/office/drawing/2014/main" id="{4180D6EF-5BCA-449F-8980-D6A0069C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342F"/>
          </a:solidFill>
          <a:ln xmlns:a="http://schemas.openxmlformats.org/drawingml/2006/main" w="9525">
            <a:solidFill>
              <a:srgbClr val="55564F"/>
            </a:solidFill>
            <a:prstDash val="solid"/>
          </a:ln>
        </p:spPr>
      </p:sp>
      <p:sp>
        <p:nvSpPr>
          <p:cNvPr id="27" name="aws-log">
            <a:extLst xmlns:a="http://schemas.openxmlformats.org/drawingml/2006/main">
              <a:ext uri="{FF2B5EF4-FFF2-40B4-BE49-F238E27FC236}">
                <a16:creationId xmlns:a16="http://schemas.microsoft.com/office/drawing/2014/main" id="{D73DFEA8-69A1-482B-A29E-3071E337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19240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342F"/>
          </a:solidFill>
          <a:ln xmlns:a="http://schemas.openxmlformats.org/drawingml/2006/main" w="9525">
            <a:solidFill>
              <a:srgbClr val="55564F"/>
            </a:solidFill>
            <a:prstDash val="solid"/>
          </a:ln>
        </p:spPr>
      </p:sp>
      <p:cxnSp>
        <p:nvCxnSpPr>
          <p:cNvPr id="88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314700" y="34671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6E55"/>
            </a:solidFill>
            <a:prstDash val="solid"/>
            <a:tailEnd type="arrow" w="sm" len="sm"/>
          </a:ln>
        </p:spPr>
      </p:cxnSp>
      <p:cxnSp>
        <p:nvCxnSpPr>
          <p:cNvPr id="8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5581650" y="34671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6E55"/>
            </a:solidFill>
            <a:prstDash val="solid"/>
            <a:tailEnd type="arrow" w="sm" len="sm"/>
          </a:ln>
        </p:spPr>
      </p:cxnSp>
      <p:cxnSp>
        <p:nvCxnSpPr>
          <p:cNvPr id="90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867650" y="34671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870"/>
            </a:solidFill>
            <a:prstDash val="solid"/>
            <a:tailEnd type="arrow" w="sm" len="sm"/>
          </a:ln>
        </p:spPr>
      </p:cxnSp>
      <p:sp>
        <p:nvSpPr>
          <p:cNvPr id="31" name="aws-events-t">
            <a:extLst xmlns:a="http://schemas.openxmlformats.org/drawingml/2006/main">
              <a:ext uri="{FF2B5EF4-FFF2-40B4-BE49-F238E27FC236}">
                <a16:creationId xmlns:a16="http://schemas.microsoft.com/office/drawing/2014/main" id="{F3CE5F88-3C2D-4792-86B9-7DEC2E9A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2420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Learning Events</a:t>
            </a:r>
          </a:p>
        </p:txBody>
      </p:sp>
      <p:sp>
        <p:nvSpPr>
          <p:cNvPr id="32" name="aws-lambda-t">
            <a:extLst xmlns:a="http://schemas.openxmlformats.org/drawingml/2006/main">
              <a:ext uri="{FF2B5EF4-FFF2-40B4-BE49-F238E27FC236}">
                <a16:creationId xmlns:a16="http://schemas.microsoft.com/office/drawing/2014/main" id="{D11239FD-A445-492D-ADC8-7E05149C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Lambda Rule Engine</a:t>
            </a:r>
          </a:p>
        </p:txBody>
      </p:sp>
      <p:sp>
        <p:nvSpPr>
          <p:cNvPr id="33" name="aws-ddb-t">
            <a:extLst xmlns:a="http://schemas.openxmlformats.org/drawingml/2006/main">
              <a:ext uri="{FF2B5EF4-FFF2-40B4-BE49-F238E27FC236}">
                <a16:creationId xmlns:a16="http://schemas.microsoft.com/office/drawing/2014/main" id="{C8007B17-16EE-4C9A-97E2-2106AC28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DynamoDB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Session State</a:t>
            </a:r>
          </a:p>
        </p:txBody>
      </p:sp>
      <p:sp>
        <p:nvSpPr>
          <p:cNvPr id="34" name="aws-log-t">
            <a:extLst xmlns:a="http://schemas.openxmlformats.org/drawingml/2006/main">
              <a:ext uri="{FF2B5EF4-FFF2-40B4-BE49-F238E27FC236}">
                <a16:creationId xmlns:a16="http://schemas.microsoft.com/office/drawing/2014/main" id="{8F10A981-7F9C-4770-B7E6-33F86412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CloudWatch</a:t>
            </a:r>
          </a:p>
        </p:txBody>
      </p:sp>
      <p:sp>
        <p:nvSpPr>
          <p:cNvPr id="35" name="aws-fire">
            <a:extLst xmlns:a="http://schemas.openxmlformats.org/drawingml/2006/main">
              <a:ext uri="{FF2B5EF4-FFF2-40B4-BE49-F238E27FC236}">
                <a16:creationId xmlns:a16="http://schemas.microsoft.com/office/drawing/2014/main" id="{E29813E5-4734-46C2-83E0-C2D47039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15049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342F"/>
          </a:solidFill>
          <a:ln xmlns:a="http://schemas.openxmlformats.org/drawingml/2006/main" w="9525">
            <a:solidFill>
              <a:srgbClr val="55564F"/>
            </a:solidFill>
            <a:prstDash val="solid"/>
          </a:ln>
        </p:spPr>
      </p:sp>
      <p:sp>
        <p:nvSpPr>
          <p:cNvPr id="36" name="aws-s3">
            <a:extLst xmlns:a="http://schemas.openxmlformats.org/drawingml/2006/main">
              <a:ext uri="{FF2B5EF4-FFF2-40B4-BE49-F238E27FC236}">
                <a16:creationId xmlns:a16="http://schemas.microsoft.com/office/drawing/2014/main" id="{2E756239-1272-4DF6-BC93-1BABE3A1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7195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587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aws-athena">
            <a:extLst xmlns:a="http://schemas.openxmlformats.org/drawingml/2006/main">
              <a:ext uri="{FF2B5EF4-FFF2-40B4-BE49-F238E27FC236}">
                <a16:creationId xmlns:a16="http://schemas.microsoft.com/office/drawing/2014/main" id="{804C1B6C-8A11-4ED7-A995-6B42464E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342F"/>
          </a:solidFill>
          <a:ln xmlns:a="http://schemas.openxmlformats.org/drawingml/2006/main" w="9525">
            <a:solidFill>
              <a:srgbClr val="55564F"/>
            </a:solidFill>
            <a:prstDash val="solid"/>
          </a:ln>
        </p:spPr>
      </p:sp>
      <p:sp>
        <p:nvSpPr>
          <p:cNvPr id="38" name="aws-ml">
            <a:extLst xmlns:a="http://schemas.openxmlformats.org/drawingml/2006/main">
              <a:ext uri="{FF2B5EF4-FFF2-40B4-BE49-F238E27FC236}">
                <a16:creationId xmlns:a16="http://schemas.microsoft.com/office/drawing/2014/main" id="{C9F6A540-E6B8-41F3-9AA1-0D4168BD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19240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342F"/>
          </a:solidFill>
          <a:ln xmlns:a="http://schemas.openxmlformats.org/drawingml/2006/main" w="9525">
            <a:solidFill>
              <a:srgbClr val="55564F"/>
            </a:solidFill>
            <a:prstDash val="solid"/>
          </a:ln>
        </p:spPr>
      </p:sp>
      <p:cxnSp>
        <p:nvCxnSpPr>
          <p:cNvPr id="99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3314700" y="45148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8F2"/>
            </a:solidFill>
            <a:prstDash val="solid"/>
            <a:tailEnd type="arrow" w="sm" len="sm"/>
          </a:ln>
        </p:spPr>
      </p:cxnSp>
      <p:cxnSp>
        <p:nvCxnSpPr>
          <p:cNvPr id="100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581650" y="45148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8F2"/>
            </a:solidFill>
            <a:prstDash val="solid"/>
            <a:tailEnd type="arrow" w="sm" len="sm"/>
          </a:ln>
        </p:spPr>
      </p:cxnSp>
      <p:cxnSp>
        <p:nvCxnSpPr>
          <p:cNvPr id="10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867650" y="45148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8F2"/>
            </a:solidFill>
            <a:prstDash val="solid"/>
            <a:tailEnd type="arrow" w="sm" len="sm"/>
          </a:ln>
        </p:spPr>
      </p:cxnSp>
      <p:sp>
        <p:nvSpPr>
          <p:cNvPr id="42" name="aws-fire-t">
            <a:extLst xmlns:a="http://schemas.openxmlformats.org/drawingml/2006/main">
              <a:ext uri="{FF2B5EF4-FFF2-40B4-BE49-F238E27FC236}">
                <a16:creationId xmlns:a16="http://schemas.microsoft.com/office/drawing/2014/main" id="{30864EA7-5775-4764-A44D-9A4334EF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Data Firehose</a:t>
            </a:r>
          </a:p>
        </p:txBody>
      </p:sp>
      <p:sp>
        <p:nvSpPr>
          <p:cNvPr id="43" name="aws-s3-t">
            <a:extLst xmlns:a="http://schemas.openxmlformats.org/drawingml/2006/main">
              <a:ext uri="{FF2B5EF4-FFF2-40B4-BE49-F238E27FC236}">
                <a16:creationId xmlns:a16="http://schemas.microsoft.com/office/drawing/2014/main" id="{E53640C4-9BAB-495B-A668-17D900C6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719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Amazon S3</a:t>
            </a:r>
          </a:p>
        </p:txBody>
      </p:sp>
      <p:sp>
        <p:nvSpPr>
          <p:cNvPr id="44" name="aws-athena-t">
            <a:extLst xmlns:a="http://schemas.openxmlformats.org/drawingml/2006/main">
              <a:ext uri="{FF2B5EF4-FFF2-40B4-BE49-F238E27FC236}">
                <a16:creationId xmlns:a16="http://schemas.microsoft.com/office/drawing/2014/main" id="{7CE72598-FE69-4B42-959D-C557D16B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Glue + Athena</a:t>
            </a:r>
          </a:p>
        </p:txBody>
      </p:sp>
      <p:sp>
        <p:nvSpPr>
          <p:cNvPr id="45" name="aws-ml-t">
            <a:extLst xmlns:a="http://schemas.openxmlformats.org/drawingml/2006/main">
              <a:ext uri="{FF2B5EF4-FFF2-40B4-BE49-F238E27FC236}">
                <a16:creationId xmlns:a16="http://schemas.microsoft.com/office/drawing/2014/main" id="{CAA85C45-1511-4242-8C4F-346653B5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SageMaker / Bedrock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Future model</a:t>
            </a:r>
          </a:p>
        </p:txBody>
      </p:sp>
      <p:sp>
        <p:nvSpPr>
          <p:cNvPr id="46" name="aws-sch">
            <a:extLst xmlns:a="http://schemas.openxmlformats.org/drawingml/2006/main">
              <a:ext uri="{FF2B5EF4-FFF2-40B4-BE49-F238E27FC236}">
                <a16:creationId xmlns:a16="http://schemas.microsoft.com/office/drawing/2014/main" id="{48FC9764-C238-4E21-A5F3-9B92EC3A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15049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342F"/>
          </a:solidFill>
          <a:ln xmlns:a="http://schemas.openxmlformats.org/drawingml/2006/main" w="9525">
            <a:solidFill>
              <a:srgbClr val="55564F"/>
            </a:solidFill>
            <a:prstDash val="solid"/>
          </a:ln>
        </p:spPr>
      </p:sp>
      <p:sp>
        <p:nvSpPr>
          <p:cNvPr id="47" name="aws-recall">
            <a:extLst xmlns:a="http://schemas.openxmlformats.org/drawingml/2006/main">
              <a:ext uri="{FF2B5EF4-FFF2-40B4-BE49-F238E27FC236}">
                <a16:creationId xmlns:a16="http://schemas.microsoft.com/office/drawing/2014/main" id="{C34AB737-1C5D-4273-9810-242B18D8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aws-ses">
            <a:extLst xmlns:a="http://schemas.openxmlformats.org/drawingml/2006/main">
              <a:ext uri="{FF2B5EF4-FFF2-40B4-BE49-F238E27FC236}">
                <a16:creationId xmlns:a16="http://schemas.microsoft.com/office/drawing/2014/main" id="{8F398155-FAEF-4553-810A-86FD6DB1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342F"/>
          </a:solidFill>
          <a:ln xmlns:a="http://schemas.openxmlformats.org/drawingml/2006/main" w="9525">
            <a:solidFill>
              <a:srgbClr val="55564F"/>
            </a:solidFill>
            <a:prstDash val="solid"/>
          </a:ln>
        </p:spPr>
      </p:sp>
      <p:sp>
        <p:nvSpPr>
          <p:cNvPr id="49" name="aws-deep">
            <a:extLst xmlns:a="http://schemas.openxmlformats.org/drawingml/2006/main">
              <a:ext uri="{FF2B5EF4-FFF2-40B4-BE49-F238E27FC236}">
                <a16:creationId xmlns:a16="http://schemas.microsoft.com/office/drawing/2014/main" id="{F1DF2C7B-6A63-4342-A9CF-03E5E181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19240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0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3314700" y="55626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806C"/>
            </a:solidFill>
            <a:prstDash val="solid"/>
            <a:tailEnd type="arrow" w="sm" len="sm"/>
          </a:ln>
        </p:spPr>
      </p:cxnSp>
      <p:cxnSp>
        <p:nvCxnSpPr>
          <p:cNvPr id="111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5581650" y="55626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806C"/>
            </a:solidFill>
            <a:prstDash val="solid"/>
            <a:tailEnd type="arrow" w="sm" len="sm"/>
          </a:ln>
        </p:spPr>
      </p:cxnSp>
      <p:cxnSp>
        <p:nvCxnSpPr>
          <p:cNvPr id="112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7867650" y="55626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D63D"/>
            </a:solidFill>
            <a:prstDash val="solid"/>
            <a:tailEnd type="arrow" w="sm" len="sm"/>
          </a:ln>
        </p:spPr>
      </p:cxnSp>
      <p:sp>
        <p:nvSpPr>
          <p:cNvPr id="53" name="aws-sch-t">
            <a:extLst xmlns:a="http://schemas.openxmlformats.org/drawingml/2006/main">
              <a:ext uri="{FF2B5EF4-FFF2-40B4-BE49-F238E27FC236}">
                <a16:creationId xmlns:a16="http://schemas.microsoft.com/office/drawing/2014/main" id="{BF66562B-C608-4C0B-8DFB-A39A0651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EventBridge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Scheduler</a:t>
            </a:r>
          </a:p>
        </p:txBody>
      </p:sp>
      <p:sp>
        <p:nvSpPr>
          <p:cNvPr id="54" name="aws-recall-t">
            <a:extLst xmlns:a="http://schemas.openxmlformats.org/drawingml/2006/main">
              <a:ext uri="{FF2B5EF4-FFF2-40B4-BE49-F238E27FC236}">
                <a16:creationId xmlns:a16="http://schemas.microsoft.com/office/drawing/2014/main" id="{6EB6F3E4-3C7F-4276-928B-0C036181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Recall Lambda</a:t>
            </a:r>
          </a:p>
        </p:txBody>
      </p:sp>
      <p:sp>
        <p:nvSpPr>
          <p:cNvPr id="55" name="aws-ses-t">
            <a:extLst xmlns:a="http://schemas.openxmlformats.org/drawingml/2006/main">
              <a:ext uri="{FF2B5EF4-FFF2-40B4-BE49-F238E27FC236}">
                <a16:creationId xmlns:a16="http://schemas.microsoft.com/office/drawing/2014/main" id="{C5437033-E0FC-48A6-83B1-D13AB514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SES / SNS</a:t>
            </a:r>
          </a:p>
        </p:txBody>
      </p:sp>
      <p:sp>
        <p:nvSpPr>
          <p:cNvPr id="56" name="aws-deep-t">
            <a:extLst xmlns:a="http://schemas.openxmlformats.org/drawingml/2006/main">
              <a:ext uri="{FF2B5EF4-FFF2-40B4-BE49-F238E27FC236}">
                <a16:creationId xmlns:a16="http://schemas.microsoft.com/office/drawing/2014/main" id="{02177F70-B0AE-4A52-9CFB-3C3CEDC5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Deep Link 回課程</a:t>
            </a:r>
          </a:p>
        </p:txBody>
      </p:sp>
      <p:cxnSp>
        <p:nvCxnSpPr>
          <p:cNvPr id="117" name=""/>
          <p:cNvCxnSpPr>
            <a:stCxn xmlns:a="http://schemas.openxmlformats.org/drawingml/2006/main" id="1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743450" y="2762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6E55"/>
            </a:solidFill>
            <a:prstDash val="solid"/>
            <a:tailEnd type="arrow" w="sm" len="sm"/>
          </a:ln>
        </p:spPr>
      </p:cxnSp>
      <p:cxnSp>
        <p:nvCxnSpPr>
          <p:cNvPr id="118" name=""/>
          <p:cNvCxnSpPr>
            <a:stCxn xmlns:a="http://schemas.openxmlformats.org/drawingml/2006/main" id="2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2562225" y="38100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8F2"/>
            </a:solidFill>
            <a:prstDash val="solid"/>
            <a:tailEnd type="arrow" w="sm" len="sm"/>
          </a:ln>
        </p:spPr>
      </p:cxnSp>
      <p:cxnSp>
        <p:nvCxnSpPr>
          <p:cNvPr id="119" name=""/>
          <p:cNvCxnSpPr>
            <a:stCxn xmlns:a="http://schemas.openxmlformats.org/drawingml/2006/main" id="26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 flipH="1">
            <a:off x="2562225" y="3810000"/>
            <a:ext cx="4467225" cy="14097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F806C"/>
            </a:solidFill>
            <a:prstDash val="solid"/>
            <a:tailEnd type="arrow" w="sm" len="sm"/>
          </a:ln>
        </p:spPr>
      </p:cxnSp>
      <p:sp>
        <p:nvSpPr>
          <p:cNvPr id="60" name="footer">
            <a:extLst xmlns:a="http://schemas.openxmlformats.org/drawingml/2006/main">
              <a:ext uri="{FF2B5EF4-FFF2-40B4-BE49-F238E27FC236}">
                <a16:creationId xmlns:a16="http://schemas.microsoft.com/office/drawing/2014/main" id="{4A06FADB-B0FC-4F6F-9979-D930DA13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F908A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8F908A"/>
                </a:solidFill>
                <a:latin typeface="PingFang TC"/>
                <a:ea typeface="PingFang TC"/>
                <a:cs typeface="PingFang TC"/>
              </a:rPr>
              <a:t>Proposed AWS architecture｜參考：AWS API Gateway WebSocket、EventBridge Scheduler、Amazon SES 官方文件</a:t>
            </a:r>
          </a:p>
        </p:txBody>
      </p:sp>
    </p:spTree>
    <p:extLst>
      <p:ext uri="{BB962C8B-B14F-4D97-AF65-F5344CB8AC3E}">
        <p14:creationId xmlns:p14="http://schemas.microsoft.com/office/powerpoint/2010/main" val="6734221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-10">
            <a:extLst xmlns:a="http://schemas.openxmlformats.org/drawingml/2006/main">
              <a:ext uri="{FF2B5EF4-FFF2-40B4-BE49-F238E27FC236}">
                <a16:creationId xmlns:a16="http://schemas.microsoft.com/office/drawing/2014/main" id="{9C15F7AC-FB61-4FAF-9C20-F6E76A24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2" name="eyebrow-10">
            <a:extLst xmlns:a="http://schemas.openxmlformats.org/drawingml/2006/main">
              <a:ext uri="{FF2B5EF4-FFF2-40B4-BE49-F238E27FC236}">
                <a16:creationId xmlns:a16="http://schemas.microsoft.com/office/drawing/2014/main" id="{076D7927-DC34-46C0-8C52-2F80B55C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IMPACT &amp; NEXT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9E578AAA-B17E-4AF6-9B0A-EF7517D9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用 Recovery Rate 驗證學習價值，再連到留存與營收</a:t>
            </a:r>
          </a:p>
        </p:txBody>
      </p:sp>
      <p:sp>
        <p:nvSpPr>
          <p:cNvPr id="4" name="sub-10">
            <a:extLst xmlns:a="http://schemas.openxmlformats.org/drawingml/2006/main">
              <a:ext uri="{FF2B5EF4-FFF2-40B4-BE49-F238E27FC236}">
                <a16:creationId xmlns:a16="http://schemas.microsoft.com/office/drawing/2014/main" id="{09A4FEB6-A7F9-4260-A7AD-2F7078BA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先證明「介入後繼續學」，再驗證「完成更多、回來更多、續購更多」。</a:t>
            </a:r>
          </a:p>
        </p:txBody>
      </p:sp>
      <p:sp>
        <p:nvSpPr>
          <p:cNvPr id="5" name="north">
            <a:extLst xmlns:a="http://schemas.openxmlformats.org/drawingml/2006/main">
              <a:ext uri="{FF2B5EF4-FFF2-40B4-BE49-F238E27FC236}">
                <a16:creationId xmlns:a16="http://schemas.microsoft.com/office/drawing/2014/main" id="{AB76DB91-82B8-4F67-9E89-B135C955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257550" cy="3467100"/>
          </a:xfrm>
          <a:prstGeom xmlns:a="http://schemas.openxmlformats.org/drawingml/2006/main" prst="roundRect">
            <a:avLst>
              <a:gd name="adj" fmla="val 7602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orth-label">
            <a:extLst xmlns:a="http://schemas.openxmlformats.org/drawingml/2006/main">
              <a:ext uri="{FF2B5EF4-FFF2-40B4-BE49-F238E27FC236}">
                <a16:creationId xmlns:a16="http://schemas.microsoft.com/office/drawing/2014/main" id="{119080B8-D001-4856-B724-8CB09159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D63D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D63D"/>
                </a:solidFill>
                <a:latin typeface="PingFang TC"/>
                <a:ea typeface="PingFang TC"/>
                <a:cs typeface="PingFang TC"/>
              </a:rPr>
              <a:t>NORTH STAR</a:t>
            </a:r>
          </a:p>
        </p:txBody>
      </p:sp>
      <p:sp>
        <p:nvSpPr>
          <p:cNvPr id="7" name="north-value">
            <a:extLst xmlns:a="http://schemas.openxmlformats.org/drawingml/2006/main">
              <a:ext uri="{FF2B5EF4-FFF2-40B4-BE49-F238E27FC236}">
                <a16:creationId xmlns:a16="http://schemas.microsoft.com/office/drawing/2014/main" id="{BCD49FA6-A124-42D6-A1B4-90CDF334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Recovery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Rate</a:t>
            </a:r>
          </a:p>
        </p:txBody>
      </p:sp>
      <p:sp>
        <p:nvSpPr>
          <p:cNvPr id="8" name="north-formula">
            <a:extLst xmlns:a="http://schemas.openxmlformats.org/drawingml/2006/main">
              <a:ext uri="{FF2B5EF4-FFF2-40B4-BE49-F238E27FC236}">
                <a16:creationId xmlns:a16="http://schemas.microsoft.com/office/drawing/2014/main" id="{132D41EC-C28F-4531-A77D-86664A78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7C7C1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7C7C1"/>
                </a:solidFill>
                <a:latin typeface="PingFang TC"/>
                <a:ea typeface="PingFang TC"/>
                <a:cs typeface="PingFang TC"/>
              </a:rPr>
              <a:t>介入後恢復觀看或完課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7C7C1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C7C7C1"/>
                </a:solidFill>
                <a:latin typeface="PingFang TC"/>
                <a:ea typeface="PingFang TC"/>
                <a:cs typeface="PingFang TC"/>
              </a:rPr>
              <a:t>÷ Agent 介入總次數</a:t>
            </a:r>
          </a:p>
        </p:txBody>
      </p:sp>
      <p:sp>
        <p:nvSpPr>
          <p:cNvPr id="9" name="target">
            <a:extLst xmlns:a="http://schemas.openxmlformats.org/drawingml/2006/main">
              <a:ext uri="{FF2B5EF4-FFF2-40B4-BE49-F238E27FC236}">
                <a16:creationId xmlns:a16="http://schemas.microsoft.com/office/drawing/2014/main" id="{276FD1B4-49C0-4078-9F5B-6AC727F9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2476500" cy="4762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rget-t">
            <a:extLst xmlns:a="http://schemas.openxmlformats.org/drawingml/2006/main">
              <a:ext uri="{FF2B5EF4-FFF2-40B4-BE49-F238E27FC236}">
                <a16:creationId xmlns:a16="http://schemas.microsoft.com/office/drawing/2014/main" id="{4381FB20-1B9E-44A1-AD65-181B1541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目標：A/B 驗證，不預填結果</a:t>
            </a:r>
          </a:p>
        </p:txBody>
      </p:sp>
      <p:sp>
        <p:nvSpPr>
          <p:cNvPr id="11" name="chain-label">
            <a:extLst xmlns:a="http://schemas.openxmlformats.org/drawingml/2006/main">
              <a:ext uri="{FF2B5EF4-FFF2-40B4-BE49-F238E27FC236}">
                <a16:creationId xmlns:a16="http://schemas.microsoft.com/office/drawing/2014/main" id="{CC4DE3D0-AAE4-4A5B-AF3C-4B7F00C2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38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806C"/>
                </a:solidFill>
                <a:latin typeface="PingFang TC"/>
                <a:ea typeface="PingFang TC"/>
                <a:cs typeface="PingFang TC"/>
              </a:rPr>
              <a:t>VALUE CHAIN</a:t>
            </a:r>
          </a:p>
        </p:txBody>
      </p:sp>
      <p:sp>
        <p:nvSpPr>
          <p:cNvPr id="12" name="kpi-0">
            <a:extLst xmlns:a="http://schemas.openxmlformats.org/drawingml/2006/main">
              <a:ext uri="{FF2B5EF4-FFF2-40B4-BE49-F238E27FC236}">
                <a16:creationId xmlns:a16="http://schemas.microsoft.com/office/drawing/2014/main" id="{F360AE7C-EAFC-42BB-B9CC-F40BCCF2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00300"/>
            <a:ext cx="20955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5EAFF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13" name="kpi-1">
            <a:extLst xmlns:a="http://schemas.openxmlformats.org/drawingml/2006/main">
              <a:ext uri="{FF2B5EF4-FFF2-40B4-BE49-F238E27FC236}">
                <a16:creationId xmlns:a16="http://schemas.microsoft.com/office/drawing/2014/main" id="{A5C89091-6894-4CEC-AB36-D7FBCDF8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20955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DDF0E8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sp>
        <p:nvSpPr>
          <p:cNvPr id="14" name="kpi-2">
            <a:extLst xmlns:a="http://schemas.openxmlformats.org/drawingml/2006/main">
              <a:ext uri="{FF2B5EF4-FFF2-40B4-BE49-F238E27FC236}">
                <a16:creationId xmlns:a16="http://schemas.microsoft.com/office/drawing/2014/main" id="{614F036E-DC6F-44F7-B6C8-D35D5235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0955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FFF2AE"/>
          </a:solidFill>
          <a:ln xmlns:a="http://schemas.openxmlformats.org/drawingml/2006/main" w="9525">
            <a:solidFill>
              <a:srgbClr val="DEDACE"/>
            </a:solidFill>
            <a:prstDash val="solid"/>
          </a:ln>
        </p:spPr>
      </p: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1030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6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10600" y="30670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6"/>
            </a:solidFill>
            <a:prstDash val="solid"/>
            <a:tailEnd type="arrow" w="sm" len="sm"/>
          </a:ln>
        </p:spPr>
      </p:cxnSp>
      <p:sp>
        <p:nvSpPr>
          <p:cNvPr id="17" name="kpt-0">
            <a:extLst xmlns:a="http://schemas.openxmlformats.org/drawingml/2006/main">
              <a:ext uri="{FF2B5EF4-FFF2-40B4-BE49-F238E27FC236}">
                <a16:creationId xmlns:a16="http://schemas.microsoft.com/office/drawing/2014/main" id="{8F47D3C0-9938-4852-9890-04F115E9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學習</a:t>
            </a:r>
          </a:p>
        </p:txBody>
      </p:sp>
      <p:sp>
        <p:nvSpPr>
          <p:cNvPr id="18" name="kpd-0">
            <a:extLst xmlns:a="http://schemas.openxmlformats.org/drawingml/2006/main">
              <a:ext uri="{FF2B5EF4-FFF2-40B4-BE49-F238E27FC236}">
                <a16:creationId xmlns:a16="http://schemas.microsoft.com/office/drawing/2014/main" id="{0B7CA624-CFED-4347-93FD-0290A0E6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章節完成率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Continue Watching</a:t>
            </a:r>
          </a:p>
        </p:txBody>
      </p:sp>
      <p:sp>
        <p:nvSpPr>
          <p:cNvPr id="19" name="kpt-1">
            <a:extLst xmlns:a="http://schemas.openxmlformats.org/drawingml/2006/main">
              <a:ext uri="{FF2B5EF4-FFF2-40B4-BE49-F238E27FC236}">
                <a16:creationId xmlns:a16="http://schemas.microsoft.com/office/drawing/2014/main" id="{9B833D9C-C61D-4F8B-AFE5-F2BAA2F1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09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留存</a:t>
            </a:r>
          </a:p>
        </p:txBody>
      </p:sp>
      <p:sp>
        <p:nvSpPr>
          <p:cNvPr id="20" name="kpd-1">
            <a:extLst xmlns:a="http://schemas.openxmlformats.org/drawingml/2006/main">
              <a:ext uri="{FF2B5EF4-FFF2-40B4-BE49-F238E27FC236}">
                <a16:creationId xmlns:a16="http://schemas.microsoft.com/office/drawing/2014/main" id="{C95F0214-9C02-43C5-A40A-FE3A1C3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7 日回站率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Return-to-Learning</a:t>
            </a:r>
          </a:p>
        </p:txBody>
      </p:sp>
      <p:sp>
        <p:nvSpPr>
          <p:cNvPr id="21" name="kpt-2">
            <a:extLst xmlns:a="http://schemas.openxmlformats.org/drawingml/2006/main">
              <a:ext uri="{FF2B5EF4-FFF2-40B4-BE49-F238E27FC236}">
                <a16:creationId xmlns:a16="http://schemas.microsoft.com/office/drawing/2014/main" id="{C225F0BF-AE40-4268-B9EB-ACF2296B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商業</a:t>
            </a:r>
          </a:p>
        </p:txBody>
      </p:sp>
      <p:sp>
        <p:nvSpPr>
          <p:cNvPr id="22" name="kpd-2">
            <a:extLst xmlns:a="http://schemas.openxmlformats.org/drawingml/2006/main">
              <a:ext uri="{FF2B5EF4-FFF2-40B4-BE49-F238E27FC236}">
                <a16:creationId xmlns:a16="http://schemas.microsoft.com/office/drawing/2014/main" id="{50B959FD-62F9-424C-9B08-23AA9DC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續購／訂閱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706E67"/>
                </a:solidFill>
                <a:latin typeface="PingFang TC"/>
                <a:ea typeface="PingFang TC"/>
                <a:cs typeface="PingFang TC"/>
              </a:rPr>
              <a:t>推薦轉換</a:t>
            </a:r>
          </a:p>
        </p:txBody>
      </p:sp>
      <p:sp>
        <p:nvSpPr>
          <p:cNvPr id="23" name="next-label">
            <a:extLst xmlns:a="http://schemas.openxmlformats.org/drawingml/2006/main">
              <a:ext uri="{FF2B5EF4-FFF2-40B4-BE49-F238E27FC236}">
                <a16:creationId xmlns:a16="http://schemas.microsoft.com/office/drawing/2014/main" id="{AAA1CC25-CE83-4F5F-AD58-17E7587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91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06E5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06E55"/>
                </a:solidFill>
                <a:latin typeface="PingFang TC"/>
                <a:ea typeface="PingFang TC"/>
                <a:cs typeface="PingFang TC"/>
              </a:rPr>
              <a:t>NEXT 3 STEPS</a:t>
            </a:r>
          </a:p>
        </p:txBody>
      </p:sp>
      <p:sp>
        <p:nvSpPr>
          <p:cNvPr id="24" name="pill-1">
            <a:extLst xmlns:a="http://schemas.openxmlformats.org/drawingml/2006/main">
              <a:ext uri="{FF2B5EF4-FFF2-40B4-BE49-F238E27FC236}">
                <a16:creationId xmlns:a16="http://schemas.microsoft.com/office/drawing/2014/main" id="{6E5E402A-76FA-4741-B89A-31B3C2CA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720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ltxt-1">
            <a:extLst xmlns:a="http://schemas.openxmlformats.org/drawingml/2006/main">
              <a:ext uri="{FF2B5EF4-FFF2-40B4-BE49-F238E27FC236}">
                <a16:creationId xmlns:a16="http://schemas.microsoft.com/office/drawing/2014/main" id="{F9C483A0-2376-4B7F-A854-3E0CAF6A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720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26" name="next-0">
            <a:extLst xmlns:a="http://schemas.openxmlformats.org/drawingml/2006/main">
              <a:ext uri="{FF2B5EF4-FFF2-40B4-BE49-F238E27FC236}">
                <a16:creationId xmlns:a16="http://schemas.microsoft.com/office/drawing/2014/main" id="{4EB3DF7C-09D8-400E-ADC1-282C1BBD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72000"/>
            <a:ext cx="641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接官方資料：建立事件基準與標籤</a:t>
            </a:r>
          </a:p>
        </p:txBody>
      </p:sp>
      <p:sp>
        <p:nvSpPr>
          <p:cNvPr id="27" name="pill-2">
            <a:extLst xmlns:a="http://schemas.openxmlformats.org/drawingml/2006/main">
              <a:ext uri="{FF2B5EF4-FFF2-40B4-BE49-F238E27FC236}">
                <a16:creationId xmlns:a16="http://schemas.microsoft.com/office/drawing/2014/main" id="{24F3E1FB-D376-4D49-A101-E12682AE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673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illtxt-2">
            <a:extLst xmlns:a="http://schemas.openxmlformats.org/drawingml/2006/main">
              <a:ext uri="{FF2B5EF4-FFF2-40B4-BE49-F238E27FC236}">
                <a16:creationId xmlns:a16="http://schemas.microsoft.com/office/drawing/2014/main" id="{728A7B85-5EB3-492C-8B3D-352E4931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673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29" name="next-1">
            <a:extLst xmlns:a="http://schemas.openxmlformats.org/drawingml/2006/main">
              <a:ext uri="{FF2B5EF4-FFF2-40B4-BE49-F238E27FC236}">
                <a16:creationId xmlns:a16="http://schemas.microsoft.com/office/drawing/2014/main" id="{588FA353-BD74-4812-882A-F2F558AA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67300"/>
            <a:ext cx="641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小流量 A/B：比較介入與對照組</a:t>
            </a:r>
          </a:p>
        </p:txBody>
      </p:sp>
      <p:sp>
        <p:nvSpPr>
          <p:cNvPr id="30" name="pill-3">
            <a:extLst xmlns:a="http://schemas.openxmlformats.org/drawingml/2006/main">
              <a:ext uri="{FF2B5EF4-FFF2-40B4-BE49-F238E27FC236}">
                <a16:creationId xmlns:a16="http://schemas.microsoft.com/office/drawing/2014/main" id="{2AC953AD-0575-4527-8BBC-D76B0A84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626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illtxt-3">
            <a:extLst xmlns:a="http://schemas.openxmlformats.org/drawingml/2006/main">
              <a:ext uri="{FF2B5EF4-FFF2-40B4-BE49-F238E27FC236}">
                <a16:creationId xmlns:a16="http://schemas.microsoft.com/office/drawing/2014/main" id="{96544C05-7ECA-4A89-8C37-66B4FD2C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62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32" name="next-2">
            <a:extLst xmlns:a="http://schemas.openxmlformats.org/drawingml/2006/main">
              <a:ext uri="{FF2B5EF4-FFF2-40B4-BE49-F238E27FC236}">
                <a16:creationId xmlns:a16="http://schemas.microsoft.com/office/drawing/2014/main" id="{27367C0B-B47F-4996-8FB8-EC7E593D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62600"/>
            <a:ext cx="641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16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61616"/>
                </a:solidFill>
                <a:latin typeface="PingFang TC"/>
                <a:ea typeface="PingFang TC"/>
                <a:cs typeface="PingFang TC"/>
              </a:rPr>
              <a:t>規模化：模型化＋多課程＋營運儀表板</a:t>
            </a:r>
          </a:p>
        </p:txBody>
      </p:sp>
      <p:sp>
        <p:nvSpPr>
          <p:cNvPr id="33" name="ask">
            <a:extLst xmlns:a="http://schemas.openxmlformats.org/drawingml/2006/main">
              <a:ext uri="{FF2B5EF4-FFF2-40B4-BE49-F238E27FC236}">
                <a16:creationId xmlns:a16="http://schemas.microsoft.com/office/drawing/2014/main" id="{9D11E614-AB64-40C7-AE62-A2D27381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153150"/>
            <a:ext cx="68961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2F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sk-t">
            <a:extLst xmlns:a="http://schemas.openxmlformats.org/drawingml/2006/main">
              <a:ext uri="{FF2B5EF4-FFF2-40B4-BE49-F238E27FC236}">
                <a16:creationId xmlns:a16="http://schemas.microsoft.com/office/drawing/2014/main" id="{F585CFE8-72DA-49CA-84C1-1303B94F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153150"/>
            <a:ext cx="689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決策請求：批准以 PressPlay 真實資料啟動 2 週驗證 Sprint</a:t>
            </a:r>
          </a:p>
        </p:txBody>
      </p:sp>
      <p:sp>
        <p:nvSpPr>
          <p:cNvPr id="35" name="footer">
            <a:extLst xmlns:a="http://schemas.openxmlformats.org/drawingml/2006/main">
              <a:ext uri="{FF2B5EF4-FFF2-40B4-BE49-F238E27FC236}">
                <a16:creationId xmlns:a16="http://schemas.microsoft.com/office/drawing/2014/main" id="{430E749E-CC2D-48B4-8118-52C440DC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928F87"/>
                </a:solidFill>
                <a:latin typeface="PingFang TC"/>
                <a:ea typeface="PingFang TC"/>
                <a:cs typeface="PingFang TC"/>
              </a:rPr>
              <a:t>所有 uplift 皆待正式資料與實驗驗證；Demo 數字與 AI Output 均清楚標示 Mock</a:t>
            </a:r>
          </a:p>
        </p:txBody>
      </p:sp>
    </p:spTree>
    <p:extLst>
      <p:ext uri="{BB962C8B-B14F-4D97-AF65-F5344CB8AC3E}">
        <p14:creationId xmlns:p14="http://schemas.microsoft.com/office/powerpoint/2010/main" val="1605239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2026-07-14T02:19:21.4200000Z</dcterms:created>
  <dcterms:modified xsi:type="dcterms:W3CDTF">2026-07-14T02:19:21.4200000Z</dcterms:modified>
</coreProperties>
</file>